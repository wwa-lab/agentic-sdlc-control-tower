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781b6263774806" /><Relationship Type="http://schemas.openxmlformats.org/officeDocument/2006/relationships/extended-properties" Target="/docProps/app.xml" Id="R6d59a4a737ff4be8" /><Relationship Type="http://schemas.openxmlformats.org/officeDocument/2006/relationships/officeDocument" Target="/ppt/presentation.xml" Id="R1561499f5b7a473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b3eb89888b4c78"/>
  </p:sldMasterIdLst>
  <p:notesMasterIdLst>
    <p:notesMasterId xmlns:r="http://schemas.openxmlformats.org/officeDocument/2006/relationships" r:id="R993cbd6f30944671"/>
  </p:notesMasterIdLst>
  <p:sldIdLst>
    <p:sldId xmlns:r="http://schemas.openxmlformats.org/officeDocument/2006/relationships" id="256" r:id="Rbd2b1ec4986d4925"/>
    <p:sldId xmlns:r="http://schemas.openxmlformats.org/officeDocument/2006/relationships" id="257" r:id="Rdc6524b6fbb64ff1"/>
    <p:sldId xmlns:r="http://schemas.openxmlformats.org/officeDocument/2006/relationships" id="258" r:id="R12079f019ce64931"/>
    <p:sldId xmlns:r="http://schemas.openxmlformats.org/officeDocument/2006/relationships" id="259" r:id="Rf3892d59544b4755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b3eb89888b4c78" /><Relationship Type="http://schemas.openxmlformats.org/officeDocument/2006/relationships/theme" Target="/ppt/theme/theme1.xml" Id="Rd604f157b66a4294" /><Relationship Type="http://schemas.openxmlformats.org/officeDocument/2006/relationships/notesMaster" Target="/ppt/notesMasters/notesMaster1.xml" Id="R993cbd6f30944671" /><Relationship Type="http://schemas.openxmlformats.org/officeDocument/2006/relationships/presProps" Target="/ppt/presProps.xml" Id="R17361dc188f3482a" /><Relationship Type="http://schemas.openxmlformats.org/officeDocument/2006/relationships/viewProps" Target="/ppt/viewProps.xml" Id="Reddb8f871a28449b" /><Relationship Type="http://schemas.openxmlformats.org/officeDocument/2006/relationships/tableStyles" Target="/ppt/tableStyles.xml" Id="R420e9788720a48a9" /><Relationship Type="http://schemas.openxmlformats.org/officeDocument/2006/relationships/slide" Target="/ppt/slides/slide1.xml" Id="Rbd2b1ec4986d4925" /><Relationship Type="http://schemas.openxmlformats.org/officeDocument/2006/relationships/slide" Target="/ppt/slides/slide2.xml" Id="Rdc6524b6fbb64ff1" /><Relationship Type="http://schemas.openxmlformats.org/officeDocument/2006/relationships/slide" Target="/ppt/slides/slide3.xml" Id="R12079f019ce64931" /><Relationship Type="http://schemas.openxmlformats.org/officeDocument/2006/relationships/slide" Target="/ppt/slides/slide4.xml" Id="Rf3892d59544b47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36b5b9d7b824c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ff93de84874c23" /><Relationship Type="http://schemas.openxmlformats.org/officeDocument/2006/relationships/notesMaster" Target="/ppt/notesMasters/notesMaster1.xml" Id="Raefe005db2204c6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1c7047f07e4aea" /><Relationship Type="http://schemas.openxmlformats.org/officeDocument/2006/relationships/notesMaster" Target="/ppt/notesMasters/notesMaster1.xml" Id="Rd2b1e053ea5547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335d4341f5f4a61" /><Relationship Type="http://schemas.openxmlformats.org/officeDocument/2006/relationships/notesMaster" Target="/ppt/notesMasters/notesMaster1.xml" Id="R50652708093845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fb2ca6633fd4625" /><Relationship Type="http://schemas.openxmlformats.org/officeDocument/2006/relationships/notesMaster" Target="/ppt/notesMasters/notesMaster1.xml" Id="Re0ca1d96055b41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cf6d433ab0401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303adeeb73e0479a" /><Relationship Type="http://schemas.openxmlformats.org/officeDocument/2006/relationships/slideLayout" Target="/ppt/slideLayouts/slideLayout2.xml" Id="R8841d1f2601f442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41d1f2601f442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705a39f9c4643ff" /><Relationship Type="http://schemas.openxmlformats.org/officeDocument/2006/relationships/image" Target="/ppt/media/image.png" Id="Re13b1a3788674616" /><Relationship Type="http://schemas.openxmlformats.org/officeDocument/2006/relationships/notesSlide" Target="/ppt/notesSlides/notesSlide1.xml" Id="R8778d31334ed4e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2e5e475d19e43b1" /><Relationship Type="http://schemas.openxmlformats.org/officeDocument/2006/relationships/notesSlide" Target="/ppt/notesSlides/notesSlide2.xml" Id="R94158c3f9ea54f5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701e8653c94fdd" /><Relationship Type="http://schemas.openxmlformats.org/officeDocument/2006/relationships/notesSlide" Target="/ppt/notesSlides/notesSlide3.xml" Id="R5ea1007a3e47490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02793fd4c841af" /><Relationship Type="http://schemas.openxmlformats.org/officeDocument/2006/relationships/notesSlide" Target="/ppt/notesSlides/notesSlide4.xml" Id="R616a1bde72c44ef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399B6854-0C4D-470A-9B08-53E6DB2AF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2"/>
          </a:solidFill>
          <a:ln xmlns:a="http://schemas.openxmlformats.org/drawingml/2006/main" w="0">
            <a:solidFill>
              <a:srgbClr val="101B32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87CA5BA0-2232-4A50-B71A-D3A25CB80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85800"/>
            <a:ext cx="84201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9D7FF"/>
                </a:solidFill>
              </a:defRPr>
            </a:pPr>
            <a:r>
              <a:rPr sz="1650" b="1">
                <a:solidFill>
                  <a:srgbClr val="89D7FF"/>
                </a:solidFill>
              </a:rPr>
              <a:t>合作提案 / Collaboration Proposal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7D1B394-0DF9-419B-BCE6-57F40AEB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143000"/>
            <a:ext cx="8420100" cy="1028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Agentic SDLC Control Tower × AI Platform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C6F9D31D-583B-4B5E-9C13-5DB0A677E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19350"/>
            <a:ext cx="84201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C7D5E8"/>
                </a:solidFill>
              </a:defRPr>
            </a:pPr>
            <a:r>
              <a:rPr sz="1875">
                <a:solidFill>
                  <a:srgbClr val="C7D5E8"/>
                </a:solidFill>
              </a:rPr>
              <a:t>把 SDLC 领域工作台、企业 AI 能力、治理与观测打通，先从 Requirement Management 试点跑起来。</a:t>
            </a:r>
          </a:p>
        </p:txBody>
      </p:sp>
      <p:sp>
        <p:nvSpPr>
          <p:cNvPr id="5" name="chip-SDD workflow">
            <a:extLst xmlns:a="http://schemas.openxmlformats.org/drawingml/2006/main">
              <a:ext uri="{FF2B5EF4-FFF2-40B4-BE49-F238E27FC236}">
                <a16:creationId xmlns:a16="http://schemas.microsoft.com/office/drawing/2014/main" id="{4F779B4C-8107-4A79-8958-1F0355B21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4C7EC">
              <a:alpha val="14902"/>
            </a:srgbClr>
          </a:solidFill>
          <a:ln xmlns:a="http://schemas.openxmlformats.org/drawingml/2006/main" w="13335">
            <a:solidFill>
              <a:srgbClr val="54C7E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88DE81-0F00-46DA-B77B-7F181094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466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AF6FF"/>
                </a:solidFill>
              </a:defRPr>
            </a:pPr>
            <a:r>
              <a:rPr sz="1200" b="1">
                <a:solidFill>
                  <a:srgbClr val="EAF6FF"/>
                </a:solidFill>
              </a:rPr>
              <a:t>SDD workflow</a:t>
            </a:r>
          </a:p>
        </p:txBody>
      </p:sp>
      <p:sp>
        <p:nvSpPr>
          <p:cNvPr id="7" name="chip-AI skills">
            <a:extLst xmlns:a="http://schemas.openxmlformats.org/drawingml/2006/main">
              <a:ext uri="{FF2B5EF4-FFF2-40B4-BE49-F238E27FC236}">
                <a16:creationId xmlns:a16="http://schemas.microsoft.com/office/drawing/2014/main" id="{B0963DC2-03DA-4207-92A7-24C7A0784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3181350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9B980">
              <a:alpha val="14902"/>
            </a:srgbClr>
          </a:solidFill>
          <a:ln xmlns:a="http://schemas.openxmlformats.org/drawingml/2006/main" w="13335">
            <a:solidFill>
              <a:srgbClr val="39B98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DC950C-0C02-42F9-9E8D-B563D0E32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257550"/>
            <a:ext cx="1466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AF6FF"/>
                </a:solidFill>
              </a:defRPr>
            </a:pPr>
            <a:r>
              <a:rPr sz="1200" b="1">
                <a:solidFill>
                  <a:srgbClr val="EAF6FF"/>
                </a:solidFill>
              </a:rPr>
              <a:t>AI skills</a:t>
            </a:r>
          </a:p>
        </p:txBody>
      </p:sp>
      <p:sp>
        <p:nvSpPr>
          <p:cNvPr id="9" name="chip-Quality gates">
            <a:extLst xmlns:a="http://schemas.openxmlformats.org/drawingml/2006/main">
              <a:ext uri="{FF2B5EF4-FFF2-40B4-BE49-F238E27FC236}">
                <a16:creationId xmlns:a16="http://schemas.microsoft.com/office/drawing/2014/main" id="{10AEBC1E-BBF5-42E9-854D-06D30C7F1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181350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6B443">
              <a:alpha val="14902"/>
            </a:srgbClr>
          </a:solidFill>
          <a:ln xmlns:a="http://schemas.openxmlformats.org/drawingml/2006/main" w="13335">
            <a:solidFill>
              <a:srgbClr val="F6B44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3B689-CF19-40A9-8B83-F85225466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257550"/>
            <a:ext cx="1466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AF6FF"/>
                </a:solidFill>
              </a:defRPr>
            </a:pPr>
            <a:r>
              <a:rPr sz="1200" b="1">
                <a:solidFill>
                  <a:srgbClr val="EAF6FF"/>
                </a:solidFill>
              </a:rPr>
              <a:t>Quality gates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6B1CD8-B514-4B6D-A4C4-CA0B89DE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71900"/>
            <a:ext cx="2457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54C7EC"/>
                </a:solidFill>
              </a:defRPr>
            </a:pPr>
            <a:r>
              <a:rPr sz="5400" b="1">
                <a:solidFill>
                  <a:srgbClr val="54C7EC"/>
                </a:solidFill>
              </a:rPr>
              <a:t>13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3DBD7F-D609-4984-A0F2-4FBA922A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76750"/>
            <a:ext cx="2457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E6F8"/>
                </a:solidFill>
              </a:defRPr>
            </a:pPr>
            <a:r>
              <a:rPr sz="1500" b="1">
                <a:solidFill>
                  <a:srgbClr val="D9E6F8"/>
                </a:solidFill>
              </a:rPr>
              <a:t>SDLC domain slices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133628-BD26-40D0-8CDA-1CF0EB9A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771900"/>
            <a:ext cx="2457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6B443"/>
                </a:solidFill>
              </a:defRPr>
            </a:pPr>
            <a:r>
              <a:rPr sz="5400" b="1">
                <a:solidFill>
                  <a:srgbClr val="F6B443"/>
                </a:solidFill>
              </a:rPr>
              <a:t>V1-V84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81E709-4FBE-41CE-8E55-5ACF51E49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476750"/>
            <a:ext cx="2457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E6F8"/>
                </a:solidFill>
              </a:defRPr>
            </a:pPr>
            <a:r>
              <a:rPr sz="1500" b="1">
                <a:solidFill>
                  <a:srgbClr val="D9E6F8"/>
                </a:solidFill>
              </a:rPr>
              <a:t>Flyway data backbone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EA3793-E725-45FC-9E59-7E1B137BB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771900"/>
            <a:ext cx="245745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39B980"/>
                </a:solidFill>
              </a:defRPr>
            </a:pPr>
            <a:r>
              <a:rPr sz="5400" b="1">
                <a:solidFill>
                  <a:srgbClr val="39B980"/>
                </a:solidFill>
              </a:rPr>
              <a:t>1st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0ECA72-518D-46E9-B599-E30CDD90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476750"/>
            <a:ext cx="245745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D9E6F8"/>
                </a:solidFill>
              </a:defRPr>
            </a:pPr>
            <a:r>
              <a:rPr sz="1500" b="1">
                <a:solidFill>
                  <a:srgbClr val="D9E6F8"/>
                </a:solidFill>
              </a:rPr>
              <a:t>Requirement pilot path</a:t>
            </a:r>
          </a:p>
        </p:txBody>
      </p:sp>
      <p:sp>
        <p:nvSpPr>
          <p:cNvPr id="17" name="poster-frame">
            <a:extLst xmlns:a="http://schemas.openxmlformats.org/drawingml/2006/main">
              <a:ext uri="{FF2B5EF4-FFF2-40B4-BE49-F238E27FC236}">
                <a16:creationId xmlns:a16="http://schemas.microsoft.com/office/drawing/2014/main" id="{14A86E79-D24E-42F0-8DEA-FA24B873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9803" y="685800"/>
            <a:ext cx="7619048" cy="8486775"/>
          </a:xfrm>
          <a:prstGeom xmlns:a="http://schemas.openxmlformats.org/drawingml/2006/main" prst="roundRect">
            <a:avLst>
              <a:gd name="adj" fmla="val 1000"/>
            </a:avLst>
          </a:prstGeom>
          <a:solidFill xmlns:a="http://schemas.openxmlformats.org/drawingml/2006/main">
            <a:srgbClr val="F8F5EC"/>
          </a:solidFill>
          <a:ln xmlns:a="http://schemas.openxmlformats.org/drawingml/2006/main" w="19050">
            <a:solidFill>
              <a:srgbClr val="49688F"/>
            </a:solidFill>
            <a:prstDash val="solid"/>
          </a:ln>
        </p:spPr>
      </p:sp>
      <p:pic>
        <p:nvPicPr>
          <p:cNvPr id="18" name="overview-poster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3b1a3788674616"/>
          <a:srcRect xmlns:a="http://schemas.openxmlformats.org/drawingml/2006/main" l="20202" t="0" r="2020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02203" y="838200"/>
            <a:ext cx="7314248" cy="8181975"/>
          </a:xfrm>
          <a:prstGeom xmlns:a="http://schemas.openxmlformats.org/drawingml/2006/main" prst="rect">
            <a:avLst/>
          </a:prstGeom>
        </p:spPr>
      </p:pic>
      <p:sp>
        <p:nvSpPr>
          <p:cNvPr id="19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0471DAC0-5FB0-45ED-98E6-7C24D9577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9410700"/>
            <a:ext cx="16649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AFC2DD"/>
                </a:solidFill>
              </a:defRPr>
            </a:pPr>
            <a:r>
              <a:rPr sz="1575">
                <a:solidFill>
                  <a:srgbClr val="AFC2DD"/>
                </a:solidFill>
              </a:rPr>
              <a:t>Discussion objective: agree on a joint pilot and identify the AI Platform services needed to productionize it.</a:t>
            </a:r>
          </a:p>
        </p:txBody>
      </p:sp>
    </p:spTree>
    <p:extLst>
      <p:ext uri="{BB962C8B-B14F-4D97-AF65-F5344CB8AC3E}">
        <p14:creationId xmlns:p14="http://schemas.microsoft.com/office/powerpoint/2010/main" val="29826842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500EA650-C2D0-40D7-B49E-A5780A480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5EF"/>
          </a:solidFill>
          <a:ln xmlns:a="http://schemas.openxmlformats.org/drawingml/2006/main" w="0">
            <a:solidFill>
              <a:srgbClr val="F7F5EF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FEDB430C-48A4-46AC-A50C-31E75FF34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7DFF"/>
                </a:solidFill>
              </a:defRPr>
            </a:pPr>
            <a:r>
              <a:rPr sz="1650" b="1">
                <a:solidFill>
                  <a:srgbClr val="377DFF"/>
                </a:solidFill>
              </a:rPr>
              <a:t>Shared Opportunity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82DB72F-DD8A-4491-9C2D-195E267EF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85850"/>
            <a:ext cx="16687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为什么需要一起做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99A6F57E-36C0-484C-A54F-6E88BEAD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1668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B7A"/>
                </a:solidFill>
              </a:defRPr>
            </a:pPr>
            <a:r>
              <a:rPr sz="1875">
                <a:solidFill>
                  <a:srgbClr val="5F6B7A"/>
                </a:solidFill>
              </a:rPr>
              <a:t>Control Tower 解决的是 SDLC 场景闭环；AI Platform 能把模型、工具、治理和运维能力沉淀成可复用底座。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DEDB4F-0B62-41FD-9285-8C0E29280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727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Control Tower 已经具备</a:t>
            </a:r>
          </a:p>
        </p:txBody>
      </p:sp>
      <p:sp>
        <p:nvSpPr>
          <p:cNvPr id="6" name="card-SDLC domain workflow">
            <a:extLst xmlns:a="http://schemas.openxmlformats.org/drawingml/2006/main">
              <a:ext uri="{FF2B5EF4-FFF2-40B4-BE49-F238E27FC236}">
                <a16:creationId xmlns:a16="http://schemas.microsoft.com/office/drawing/2014/main" id="{6372222B-3A34-48E2-A31C-7906D17D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81325"/>
            <a:ext cx="7276757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36801-7F2A-4543-9E72-29EA359F8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004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77DFF"/>
          </a:solidFill>
          <a:ln xmlns:a="http://schemas.openxmlformats.org/drawingml/2006/main" w="0">
            <a:solidFill>
              <a:srgbClr val="377D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FD10A-65E0-4BC9-A78A-46C2CA99C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52800"/>
            <a:ext cx="6781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SDLC domain workflow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FA26C9-4534-44C7-9D69-0BE74FB3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33800"/>
            <a:ext cx="6781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B7A"/>
                </a:solidFill>
              </a:defRPr>
            </a:pPr>
            <a:r>
              <a:rPr sz="1575">
                <a:solidFill>
                  <a:srgbClr val="5F6B7A"/>
                </a:solidFill>
              </a:rPr>
              <a:t>需求、设计、构建、测试、发布等 13 个领域都已有前后端骨架和数据模型。</a:t>
            </a:r>
          </a:p>
        </p:txBody>
      </p:sp>
      <p:sp>
        <p:nvSpPr>
          <p:cNvPr id="10" name="card-Requirement pilot surface">
            <a:extLst xmlns:a="http://schemas.openxmlformats.org/drawingml/2006/main">
              <a:ext uri="{FF2B5EF4-FFF2-40B4-BE49-F238E27FC236}">
                <a16:creationId xmlns:a16="http://schemas.microsoft.com/office/drawing/2014/main" id="{A8D5AC6F-5613-46BC-BF33-D8B566003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14950"/>
            <a:ext cx="7276757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E784C4-8C40-4BF7-9C41-BCA7646B1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980"/>
          </a:solidFill>
          <a:ln xmlns:a="http://schemas.openxmlformats.org/drawingml/2006/main" w="0">
            <a:solidFill>
              <a:srgbClr val="39B98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C08414-4348-472A-B2A3-57A2E38A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695950"/>
            <a:ext cx="6781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Requirement pilot surface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7C63E-74C0-4D54-830C-A0EEE396E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076950"/>
            <a:ext cx="67818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B7A"/>
                </a:solidFill>
              </a:defRPr>
            </a:pPr>
            <a:r>
              <a:rPr sz="1575">
                <a:solidFill>
                  <a:srgbClr val="5F6B7A"/>
                </a:solidFill>
              </a:rPr>
              <a:t>Intake、SDD 文档链、Business Review、Quality Gate 已能形成可演示闭环。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A45E7-0A77-4D16-8C35-8229B2AA6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6576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77D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E4839F-E002-45F9-84DB-10471FF0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648200"/>
            <a:ext cx="16002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5100" b="1">
                <a:solidFill>
                  <a:srgbClr val="377DFF"/>
                </a:solidFill>
              </a:defRPr>
            </a:pPr>
            <a:r>
              <a:rPr sz="5100" b="1">
                <a:solidFill>
                  <a:srgbClr val="377DFF"/>
                </a:solidFill>
              </a:rPr>
              <a:t>+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E5E441-AA4E-4512-8460-176C75EB0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486400"/>
            <a:ext cx="80010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39B98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375E08-E74E-4276-9416-9CE9A9D21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2495550"/>
            <a:ext cx="72771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72033"/>
                </a:solidFill>
              </a:defRPr>
            </a:pPr>
            <a:r>
              <a:rPr sz="2250" b="1">
                <a:solidFill>
                  <a:srgbClr val="172033"/>
                </a:solidFill>
              </a:rPr>
              <a:t>AI Platform 可以补齐</a:t>
            </a:r>
          </a:p>
        </p:txBody>
      </p:sp>
      <p:sp>
        <p:nvSpPr>
          <p:cNvPr id="18" name="card-Enterprise AI runtime">
            <a:extLst xmlns:a="http://schemas.openxmlformats.org/drawingml/2006/main">
              <a:ext uri="{FF2B5EF4-FFF2-40B4-BE49-F238E27FC236}">
                <a16:creationId xmlns:a16="http://schemas.microsoft.com/office/drawing/2014/main" id="{12F1964B-A64C-47EB-BF34-412513FC1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143" y="2981325"/>
            <a:ext cx="7276757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2792E4-FACD-4694-883D-75BDE48E2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2004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EC"/>
          </a:solidFill>
          <a:ln xmlns:a="http://schemas.openxmlformats.org/drawingml/2006/main" w="0">
            <a:solidFill>
              <a:srgbClr val="54C7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78EBF9-A8C2-4917-8D38-AFAD04F0A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52800"/>
            <a:ext cx="6781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Enterprise AI runtime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E978B4-E7C4-43BC-91DE-BDFDE080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733800"/>
            <a:ext cx="6781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B7A"/>
                </a:solidFill>
              </a:defRPr>
            </a:pPr>
            <a:r>
              <a:rPr sz="1575">
                <a:solidFill>
                  <a:srgbClr val="5F6B7A"/>
                </a:solidFill>
              </a:rPr>
              <a:t>模型路由、prompt/skill registry、tool execution、权限与审计可以平台化。</a:t>
            </a:r>
          </a:p>
        </p:txBody>
      </p:sp>
      <p:sp>
        <p:nvSpPr>
          <p:cNvPr id="22" name="card-Production guardrails">
            <a:extLst xmlns:a="http://schemas.openxmlformats.org/drawingml/2006/main">
              <a:ext uri="{FF2B5EF4-FFF2-40B4-BE49-F238E27FC236}">
                <a16:creationId xmlns:a16="http://schemas.microsoft.com/office/drawing/2014/main" id="{0CC62A50-DF78-47E2-8792-01520ADED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1143" y="5314950"/>
            <a:ext cx="7276757" cy="2124075"/>
          </a:xfrm>
          <a:prstGeom xmlns:a="http://schemas.openxmlformats.org/drawingml/2006/main" prst="roundRect">
            <a:avLst>
              <a:gd name="adj" fmla="val 35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7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BEBFC8-D891-4E88-AEA2-43AC9045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5245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443"/>
          </a:solidFill>
          <a:ln xmlns:a="http://schemas.openxmlformats.org/drawingml/2006/main" w="0">
            <a:solidFill>
              <a:srgbClr val="F6B44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8C035D5-5BB3-4D07-B07B-255F14D67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5695950"/>
            <a:ext cx="67818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72033"/>
                </a:solidFill>
              </a:defRPr>
            </a:pPr>
            <a:r>
              <a:rPr sz="2100" b="1">
                <a:solidFill>
                  <a:srgbClr val="172033"/>
                </a:solidFill>
              </a:rPr>
              <a:t>Production guardrails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523CE7-CCAD-4360-B5CA-73B0A8D8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6076950"/>
            <a:ext cx="6781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F6B7A"/>
                </a:solidFill>
              </a:defRPr>
            </a:pPr>
            <a:r>
              <a:rPr sz="1575">
                <a:solidFill>
                  <a:srgbClr val="5F6B7A"/>
                </a:solidFill>
              </a:rPr>
              <a:t>评估、可观测、成本控制、合规与回滚机制，让 agent 从 demo 走向生产。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FF7558-1D24-4DEF-8A47-23FCE1719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839075"/>
            <a:ext cx="166878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9525">
            <a:solidFill>
              <a:srgbClr val="BCD8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DB2C3D-003E-4024-848B-9E5DA4097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020050"/>
            <a:ext cx="1619250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84A8C"/>
                </a:solidFill>
              </a:defRPr>
            </a:pPr>
            <a:r>
              <a:rPr sz="1875" b="1">
                <a:solidFill>
                  <a:srgbClr val="184A8C"/>
                </a:solidFill>
              </a:rPr>
              <a:t>合作目标：Control Tower 提供真实 SDLC 场景与用户入口；AI Platform 提供可复用 AI 能力底座。双方一起把第一个可复用 agentic SDLC pattern 跑通。</a:t>
            </a:r>
          </a:p>
        </p:txBody>
      </p:sp>
    </p:spTree>
    <p:extLst>
      <p:ext uri="{BB962C8B-B14F-4D97-AF65-F5344CB8AC3E}">
        <p14:creationId xmlns:p14="http://schemas.microsoft.com/office/powerpoint/2010/main" val="4007622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60169CC-3000-4920-9997-BDC3D7B88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0">
            <a:solidFill>
              <a:srgbClr val="F8FAFC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1FE91A31-4DEF-4C66-8650-6C88B2FB9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86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377DFF"/>
                </a:solidFill>
              </a:defRPr>
            </a:pPr>
            <a:r>
              <a:rPr sz="1650" b="1">
                <a:solidFill>
                  <a:srgbClr val="377DFF"/>
                </a:solidFill>
              </a:rPr>
              <a:t>Operating Model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1FC20ED-F83D-47A9-893A-87281BC2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85850"/>
            <a:ext cx="16687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172033"/>
                </a:solidFill>
              </a:defRPr>
            </a:pPr>
            <a:r>
              <a:rPr sz="4050" b="1">
                <a:solidFill>
                  <a:srgbClr val="172033"/>
                </a:solidFill>
              </a:rPr>
              <a:t>建议的合作分工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11529B8E-25BF-4FBE-AC3F-46D18C3A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47850"/>
            <a:ext cx="1668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F6B7A"/>
                </a:solidFill>
              </a:defRPr>
            </a:pPr>
            <a:r>
              <a:rPr sz="1875">
                <a:solidFill>
                  <a:srgbClr val="5F6B7A"/>
                </a:solidFill>
              </a:rPr>
              <a:t>不是把 AI Platform 当供应商；而是共同定义一套企业可复用的 SDLC agent runtime 与治理模式。</a:t>
            </a:r>
          </a:p>
        </p:txBody>
      </p:sp>
      <p:sp>
        <p:nvSpPr>
          <p:cNvPr id="5" name="lane-Control Tower Team">
            <a:extLst xmlns:a="http://schemas.openxmlformats.org/drawingml/2006/main">
              <a:ext uri="{FF2B5EF4-FFF2-40B4-BE49-F238E27FC236}">
                <a16:creationId xmlns:a16="http://schemas.microsoft.com/office/drawing/2014/main" id="{C82DF425-160B-4FC2-BD47-FF279A9C5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47925"/>
            <a:ext cx="5410200" cy="5667375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77D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49380-4D2E-41C8-9B13-521C5E3E8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7DFF"/>
          </a:solidFill>
          <a:ln xmlns:a="http://schemas.openxmlformats.org/drawingml/2006/main" w="0">
            <a:solidFill>
              <a:srgbClr val="377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4844AE-2F48-4F0D-9822-74AC248F9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667000"/>
            <a:ext cx="4648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Control Tower Team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ADB0D1-2FAE-4767-8834-13D97B55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6705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77DFF"/>
                </a:solidFill>
              </a:defRPr>
            </a:pPr>
            <a:r>
              <a:rPr sz="1425" b="1">
                <a:solidFill>
                  <a:srgbClr val="377DFF"/>
                </a:solidFill>
              </a:rPr>
              <a:t>Owner: SDLC product surface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3934A1-A635-48E6-89BE-16286EF64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9090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B7A"/>
                </a:solidFill>
              </a:defRPr>
            </a:pPr>
            <a:r>
              <a:rPr sz="1500">
                <a:solidFill>
                  <a:srgbClr val="5F6B7A"/>
                </a:solidFill>
              </a:rPr>
              <a:t>1. 定义 Requirement / SDD / Review 用户流程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B8F867-6811-4D20-9C64-F5B8E469F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B7A"/>
                </a:solidFill>
              </a:defRPr>
            </a:pPr>
            <a:r>
              <a:rPr sz="1500">
                <a:solidFill>
                  <a:srgbClr val="5F6B7A"/>
                </a:solidFill>
              </a:rPr>
              <a:t>2. 提供业务数据模型、页面和 API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948EF5-625F-48B8-9269-8C025C9C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3860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B7A"/>
                </a:solidFill>
              </a:defRPr>
            </a:pPr>
            <a:r>
              <a:rPr sz="1500">
                <a:solidFill>
                  <a:srgbClr val="5F6B7A"/>
                </a:solidFill>
              </a:rPr>
              <a:t>3. 沉淀试点需求和验收标准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AF7508-8B05-46AA-AF4E-237CBECDA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6245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B7A"/>
                </a:solidFill>
              </a:defRPr>
            </a:pPr>
            <a:r>
              <a:rPr sz="1500">
                <a:solidFill>
                  <a:srgbClr val="5F6B7A"/>
                </a:solidFill>
              </a:rPr>
              <a:t>4. 组织业务用户反馈与迭代</a:t>
            </a:r>
          </a:p>
        </p:txBody>
      </p:sp>
      <p:sp>
        <p:nvSpPr>
          <p:cNvPr id="13" name="lane-AI Platform Team">
            <a:extLst xmlns:a="http://schemas.openxmlformats.org/drawingml/2006/main">
              <a:ext uri="{FF2B5EF4-FFF2-40B4-BE49-F238E27FC236}">
                <a16:creationId xmlns:a16="http://schemas.microsoft.com/office/drawing/2014/main" id="{BCBB1580-B00D-44B5-A8B0-AD947433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447925"/>
            <a:ext cx="5410200" cy="5667375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39B98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FDEA2F-C569-486E-9B7D-660FB628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724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9B980"/>
          </a:solidFill>
          <a:ln xmlns:a="http://schemas.openxmlformats.org/drawingml/2006/main" w="0">
            <a:solidFill>
              <a:srgbClr val="39B98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CFA84B-3DA2-438F-A90D-54B0C8F00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67000"/>
            <a:ext cx="4648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AI Platform Team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9140DF-C56B-451C-88D4-62CEDE186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6705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39B980"/>
                </a:solidFill>
              </a:defRPr>
            </a:pPr>
            <a:r>
              <a:rPr sz="1425" b="1">
                <a:solidFill>
                  <a:srgbClr val="39B980"/>
                </a:solidFill>
              </a:rPr>
              <a:t>Owner: reusable AI capability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51711-A4B0-474C-B81D-85A72B50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9090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B7A"/>
                </a:solidFill>
              </a:defRPr>
            </a:pPr>
            <a:r>
              <a:rPr sz="1500">
                <a:solidFill>
                  <a:srgbClr val="5F6B7A"/>
                </a:solidFill>
              </a:rPr>
              <a:t>1. 模型接入、路由、prompt/skill registry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6917E8-93A9-41C5-ADCF-79453F710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71475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B7A"/>
                </a:solidFill>
              </a:defRPr>
            </a:pPr>
            <a:r>
              <a:rPr sz="1500">
                <a:solidFill>
                  <a:srgbClr val="5F6B7A"/>
                </a:solidFill>
              </a:rPr>
              <a:t>2. tool execution sandbox 与 connector auth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A8A9EF7-3468-44E8-B8EC-391E8661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03860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B7A"/>
                </a:solidFill>
              </a:defRPr>
            </a:pPr>
            <a:r>
              <a:rPr sz="1500">
                <a:solidFill>
                  <a:srgbClr val="5F6B7A"/>
                </a:solidFill>
              </a:rPr>
              <a:t>3. evaluation、observability、cost tracking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1EC0A0-26B7-435B-909C-3923E9B53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6245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B7A"/>
                </a:solidFill>
              </a:defRPr>
            </a:pPr>
            <a:r>
              <a:rPr sz="1500">
                <a:solidFill>
                  <a:srgbClr val="5F6B7A"/>
                </a:solidFill>
              </a:rPr>
              <a:t>4. policy guardrails、audit 与 platform SLA</a:t>
            </a:r>
          </a:p>
        </p:txBody>
      </p:sp>
      <p:sp>
        <p:nvSpPr>
          <p:cNvPr id="21" name="lane-Joint Deliverables">
            <a:extLst xmlns:a="http://schemas.openxmlformats.org/drawingml/2006/main">
              <a:ext uri="{FF2B5EF4-FFF2-40B4-BE49-F238E27FC236}">
                <a16:creationId xmlns:a16="http://schemas.microsoft.com/office/drawing/2014/main" id="{6FCA2AB5-7BD5-44D2-A21F-75FB0D66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447925"/>
            <a:ext cx="5410200" cy="5667375"/>
          </a:xfrm>
          <a:prstGeom xmlns:a="http://schemas.openxmlformats.org/drawingml/2006/main" prst="roundRect">
            <a:avLst>
              <a:gd name="adj" fmla="val 14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F6B44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590003-E16E-4DBF-8F6A-0D059DB7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7241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B443"/>
          </a:solidFill>
          <a:ln xmlns:a="http://schemas.openxmlformats.org/drawingml/2006/main" w="0">
            <a:solidFill>
              <a:srgbClr val="F6B44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67D720-1834-4801-952C-7F1CD0D35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2667000"/>
            <a:ext cx="46482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Joint Deliverables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A02CC5-8560-4DC1-809F-14D535E7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06705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6B443"/>
                </a:solidFill>
              </a:defRPr>
            </a:pPr>
            <a:r>
              <a:rPr sz="1425" b="1">
                <a:solidFill>
                  <a:srgbClr val="F6B443"/>
                </a:solidFill>
              </a:rPr>
              <a:t>Owner: shared pilot squad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296016-E677-4BAA-BF75-6F030A529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39090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B7A"/>
                </a:solidFill>
              </a:defRPr>
            </a:pPr>
            <a:r>
              <a:rPr sz="1500">
                <a:solidFill>
                  <a:srgbClr val="5F6B7A"/>
                </a:solidFill>
              </a:rPr>
              <a:t>1. Requirement Quality Gate skill v1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4DC92C-8284-4219-8367-FE182E14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71475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B7A"/>
                </a:solidFill>
              </a:defRPr>
            </a:pPr>
            <a:r>
              <a:rPr sz="1500">
                <a:solidFill>
                  <a:srgbClr val="5F6B7A"/>
                </a:solidFill>
              </a:rPr>
              <a:t>2. Skill versioning + commit/blob evidence binding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E7ED8BE-083C-4D0A-A480-20F90324E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03860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B7A"/>
                </a:solidFill>
              </a:defRPr>
            </a:pPr>
            <a:r>
              <a:rPr sz="1500">
                <a:solidFill>
                  <a:srgbClr val="5F6B7A"/>
                </a:solidFill>
              </a:rPr>
              <a:t>3. Run history, score explanation, approval policy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C01A5D-4B8B-4BA1-B090-62BEB20F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4362450"/>
            <a:ext cx="4914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F6B7A"/>
                </a:solidFill>
              </a:defRPr>
            </a:pPr>
            <a:r>
              <a:rPr sz="1500">
                <a:solidFill>
                  <a:srgbClr val="5F6B7A"/>
                </a:solidFill>
              </a:rPr>
              <a:t>4. 一套可以复制到 Design / Test / Deploy 的 pattern</a:t>
            </a:r>
          </a:p>
        </p:txBody>
      </p:sp>
      <p:sp>
        <p:nvSpPr>
          <p:cNvPr id="29" name="chip-共同 backlog">
            <a:extLst xmlns:a="http://schemas.openxmlformats.org/drawingml/2006/main">
              <a:ext uri="{FF2B5EF4-FFF2-40B4-BE49-F238E27FC236}">
                <a16:creationId xmlns:a16="http://schemas.microsoft.com/office/drawing/2014/main" id="{E0135F70-3626-4C16-92FD-7ADAB9034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477250"/>
            <a:ext cx="18097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77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F9912FC-AC2D-48D1-86F1-C9288ADA2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553450"/>
            <a:ext cx="14668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77DFF"/>
                </a:solidFill>
              </a:defRPr>
            </a:pPr>
            <a:r>
              <a:rPr sz="1200" b="1">
                <a:solidFill>
                  <a:srgbClr val="377DFF"/>
                </a:solidFill>
              </a:rPr>
              <a:t>共同 backlog</a:t>
            </a:r>
          </a:p>
        </p:txBody>
      </p:sp>
      <p:sp>
        <p:nvSpPr>
          <p:cNvPr id="31" name="chip-双周 demo">
            <a:extLst xmlns:a="http://schemas.openxmlformats.org/drawingml/2006/main">
              <a:ext uri="{FF2B5EF4-FFF2-40B4-BE49-F238E27FC236}">
                <a16:creationId xmlns:a16="http://schemas.microsoft.com/office/drawing/2014/main" id="{8EDBE549-0F53-4206-BFB1-09E19C2D5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8477250"/>
            <a:ext cx="1466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39B98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D3C263-D935-43DF-8C19-2E3C9AC4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55345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9B980"/>
                </a:solidFill>
              </a:defRPr>
            </a:pPr>
            <a:r>
              <a:rPr sz="1200" b="1">
                <a:solidFill>
                  <a:srgbClr val="39B980"/>
                </a:solidFill>
              </a:rPr>
              <a:t>双周 demo</a:t>
            </a:r>
          </a:p>
        </p:txBody>
      </p:sp>
      <p:sp>
        <p:nvSpPr>
          <p:cNvPr id="33" name="chip-平台能力沉淀">
            <a:extLst xmlns:a="http://schemas.openxmlformats.org/drawingml/2006/main">
              <a:ext uri="{FF2B5EF4-FFF2-40B4-BE49-F238E27FC236}">
                <a16:creationId xmlns:a16="http://schemas.microsoft.com/office/drawing/2014/main" id="{12F482CD-E8D2-49FA-908E-F3786687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8477250"/>
            <a:ext cx="1466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F6B443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91551F3-778C-44F8-B876-2E5AC262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855345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F6B443"/>
                </a:solidFill>
              </a:defRPr>
            </a:pPr>
            <a:r>
              <a:rPr sz="1200" b="1">
                <a:solidFill>
                  <a:srgbClr val="F6B443"/>
                </a:solidFill>
              </a:rPr>
              <a:t>平台能力沉淀</a:t>
            </a:r>
          </a:p>
        </p:txBody>
      </p:sp>
      <p:sp>
        <p:nvSpPr>
          <p:cNvPr id="35" name="chip-业务可验收">
            <a:extLst xmlns:a="http://schemas.openxmlformats.org/drawingml/2006/main">
              <a:ext uri="{FF2B5EF4-FFF2-40B4-BE49-F238E27FC236}">
                <a16:creationId xmlns:a16="http://schemas.microsoft.com/office/drawing/2014/main" id="{14CF3FBD-8FE3-4C86-BFC2-77E8026A7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8477250"/>
            <a:ext cx="14668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E75A5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B7A75A-5BFD-45B1-B863-A8613D7C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8553450"/>
            <a:ext cx="11239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E75A5A"/>
                </a:solidFill>
              </a:defRPr>
            </a:pPr>
            <a:r>
              <a:rPr sz="1200" b="1">
                <a:solidFill>
                  <a:srgbClr val="E75A5A"/>
                </a:solidFill>
              </a:rPr>
              <a:t>业务可验收</a:t>
            </a:r>
          </a:p>
        </p:txBody>
      </p:sp>
    </p:spTree>
    <p:extLst>
      <p:ext uri="{BB962C8B-B14F-4D97-AF65-F5344CB8AC3E}">
        <p14:creationId xmlns:p14="http://schemas.microsoft.com/office/powerpoint/2010/main" val="14077308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bg">
            <a:extLst xmlns:a="http://schemas.openxmlformats.org/drawingml/2006/main">
              <a:ext uri="{FF2B5EF4-FFF2-40B4-BE49-F238E27FC236}">
                <a16:creationId xmlns:a16="http://schemas.microsoft.com/office/drawing/2014/main" id="{F5DEBB67-E25B-4F2D-B1F2-DA15DDB41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B32"/>
          </a:solidFill>
          <a:ln xmlns:a="http://schemas.openxmlformats.org/drawingml/2006/main" w="0">
            <a:solidFill>
              <a:srgbClr val="101B32"/>
            </a:solidFill>
            <a:prstDash val="solid"/>
          </a:ln>
        </p:spPr>
      </p:sp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41360054-34F0-4A20-8557-0655FB27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89D7FF"/>
                </a:solidFill>
              </a:defRPr>
            </a:pPr>
            <a:r>
              <a:rPr sz="1650" b="1">
                <a:solidFill>
                  <a:srgbClr val="89D7FF"/>
                </a:solidFill>
              </a:rPr>
              <a:t>Pilot Plan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38236B7-84DD-4A20-81B3-5346FEEF7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009650"/>
            <a:ext cx="16687800" cy="514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建议从 90 天试点开始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015CEFDA-C8F3-4FDC-812B-1AE723216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71650"/>
            <a:ext cx="166878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C7D5E8"/>
                </a:solidFill>
              </a:defRPr>
            </a:pPr>
            <a:r>
              <a:rPr sz="1875">
                <a:solidFill>
                  <a:srgbClr val="C7D5E8"/>
                </a:solidFill>
              </a:rPr>
              <a:t>用 Requirement Management 做第一条可验证路径：有真实输入、有文档产物、有评分、有审批阻断，也有平台能力需求。</a:t>
            </a:r>
          </a:p>
        </p:txBody>
      </p:sp>
      <p:sp>
        <p:nvSpPr>
          <p:cNvPr id="5" name="card-0-30 天：对齐能力边界">
            <a:extLst xmlns:a="http://schemas.openxmlformats.org/drawingml/2006/main">
              <a:ext uri="{FF2B5EF4-FFF2-40B4-BE49-F238E27FC236}">
                <a16:creationId xmlns:a16="http://schemas.microsoft.com/office/drawing/2014/main" id="{3B8FDA5D-F3A2-4DFF-B8EE-E7657F4C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95525"/>
            <a:ext cx="54102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82744"/>
          </a:solidFill>
          <a:ln xmlns:a="http://schemas.openxmlformats.org/drawingml/2006/main" w="11430">
            <a:solidFill>
              <a:srgbClr val="2E44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EE147A-4A0C-44B4-8DFA-7D987D2A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146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C7EC"/>
          </a:solidFill>
          <a:ln xmlns:a="http://schemas.openxmlformats.org/drawingml/2006/main" w="0">
            <a:solidFill>
              <a:srgbClr val="54C7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CC2384-F569-42EE-88B6-B9CDAC24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6700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0-30 天：对齐能力边界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D4FFAB-6A4E-4A87-A2F8-A6E7CEF4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48000"/>
            <a:ext cx="4914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8D4E6"/>
                </a:solidFill>
              </a:defRPr>
            </a:pPr>
            <a:r>
              <a:rPr sz="1575">
                <a:solidFill>
                  <a:srgbClr val="C8D4E6"/>
                </a:solidFill>
              </a:rPr>
              <a:t>锁定 pilot team、profile、数据源；定义 Quality Gate rubric、skill contract、run evidence。</a:t>
            </a:r>
          </a:p>
        </p:txBody>
      </p:sp>
      <p:sp>
        <p:nvSpPr>
          <p:cNvPr id="9" name="card-31-60 天：联调平台能力">
            <a:extLst xmlns:a="http://schemas.openxmlformats.org/drawingml/2006/main">
              <a:ext uri="{FF2B5EF4-FFF2-40B4-BE49-F238E27FC236}">
                <a16:creationId xmlns:a16="http://schemas.microsoft.com/office/drawing/2014/main" id="{E71B5744-1A83-4DA6-AE8A-8946B1D2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95525"/>
            <a:ext cx="54102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82744"/>
          </a:solidFill>
          <a:ln xmlns:a="http://schemas.openxmlformats.org/drawingml/2006/main" w="11430">
            <a:solidFill>
              <a:srgbClr val="2E44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CE11D7-72F9-486D-A970-9AC7693C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5146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B980"/>
          </a:solidFill>
          <a:ln xmlns:a="http://schemas.openxmlformats.org/drawingml/2006/main" w="0">
            <a:solidFill>
              <a:srgbClr val="39B98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DC23EB-E065-4F34-AB84-F6F5346B1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66700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31-60 天：联调平台能力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DA409E-575C-4066-A4E8-06D7473B2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048000"/>
            <a:ext cx="4914900" cy="609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8D4E6"/>
                </a:solidFill>
              </a:defRPr>
            </a:pPr>
            <a:r>
              <a:rPr sz="1575">
                <a:solidFill>
                  <a:srgbClr val="C8D4E6"/>
                </a:solidFill>
              </a:rPr>
              <a:t>接入模型/工具调用、run history、评估日志、权限审计；把评分结果回写 Control Plane。</a:t>
            </a:r>
          </a:p>
        </p:txBody>
      </p:sp>
      <p:sp>
        <p:nvSpPr>
          <p:cNvPr id="13" name="card-61-90 天：业务试点验收">
            <a:extLst xmlns:a="http://schemas.openxmlformats.org/drawingml/2006/main">
              <a:ext uri="{FF2B5EF4-FFF2-40B4-BE49-F238E27FC236}">
                <a16:creationId xmlns:a16="http://schemas.microsoft.com/office/drawing/2014/main" id="{C753B46B-00F5-4690-BAB9-C0D53AD3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295525"/>
            <a:ext cx="54102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182744"/>
          </a:solidFill>
          <a:ln xmlns:a="http://schemas.openxmlformats.org/drawingml/2006/main" w="11430">
            <a:solidFill>
              <a:srgbClr val="2E446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DD83F7-2703-4B70-B9B4-33299B02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514600"/>
            <a:ext cx="723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B443"/>
          </a:solidFill>
          <a:ln xmlns:a="http://schemas.openxmlformats.org/drawingml/2006/main" w="0">
            <a:solidFill>
              <a:srgbClr val="F6B4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9F282-8C57-4623-A215-000D57F33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2667000"/>
            <a:ext cx="4914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61-90 天：业务试点验收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4CA27E-BC39-4C04-AB00-911E8D311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25350" y="3048000"/>
            <a:ext cx="491490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C8D4E6"/>
                </a:solidFill>
              </a:defRPr>
            </a:pPr>
            <a:r>
              <a:rPr sz="1575">
                <a:solidFill>
                  <a:srgbClr val="C8D4E6"/>
                </a:solidFill>
              </a:rPr>
              <a:t>跑 1-2 个项目 run；验证审批阻断、stale 检测、score explanation 和运营指标。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B763A5-4CFA-487F-A919-F31981B7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296025"/>
            <a:ext cx="8601075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172743"/>
          </a:solidFill>
          <a:ln xmlns:a="http://schemas.openxmlformats.org/drawingml/2006/main" w="12383">
            <a:solidFill>
              <a:srgbClr val="31496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23400D-7123-4B72-B85A-D16AAEF8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534150"/>
            <a:ext cx="80391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</a:defRPr>
            </a:pPr>
            <a:r>
              <a:rPr sz="2025" b="1">
                <a:solidFill>
                  <a:srgbClr val="FFFFFF"/>
                </a:solidFill>
              </a:rPr>
              <a:t>需要 AI Platform 一起确认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4A6B36-46A2-4BDD-B736-9CC407C7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915150"/>
            <a:ext cx="8039100" cy="438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C8D4E6"/>
                </a:solidFill>
              </a:defRPr>
            </a:pPr>
            <a:r>
              <a:rPr sz="1725">
                <a:solidFill>
                  <a:srgbClr val="C8D4E6"/>
                </a:solidFill>
              </a:rPr>
              <a:t>模型与工具执行方式 / skill registry 归属 / 评估日志标准 / 权限与审计 / pilot squad 投入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71FBA2-70F4-4F62-BC92-A69A3EB7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6296025"/>
            <a:ext cx="7781925" cy="1885950"/>
          </a:xfrm>
          <a:prstGeom xmlns:a="http://schemas.openxmlformats.org/drawingml/2006/main" prst="roundRect">
            <a:avLst>
              <a:gd name="adj" fmla="val 4040"/>
            </a:avLst>
          </a:prstGeom>
          <a:solidFill xmlns:a="http://schemas.openxmlformats.org/drawingml/2006/main">
            <a:srgbClr val="EAF4FF"/>
          </a:solidFill>
          <a:ln xmlns:a="http://schemas.openxmlformats.org/drawingml/2006/main" w="12383">
            <a:solidFill>
              <a:srgbClr val="8FC2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A37198D-6E2A-4307-A1FB-11EF820A1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534150"/>
            <a:ext cx="72199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74A8B"/>
                </a:solidFill>
              </a:defRPr>
            </a:pPr>
            <a:r>
              <a:rPr sz="2025" b="1">
                <a:solidFill>
                  <a:srgbClr val="174A8B"/>
                </a:solidFill>
              </a:rPr>
              <a:t>今天希望得到的决定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5A2DE8-6B1B-4E74-BEAF-5DE902FD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915150"/>
            <a:ext cx="7219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74A8B"/>
                </a:solidFill>
              </a:defRPr>
            </a:pPr>
            <a:r>
              <a:rPr sz="1875" b="1">
                <a:solidFill>
                  <a:srgbClr val="174A8B"/>
                </a:solidFill>
              </a:rPr>
              <a:t>是否愿意联合成立 pilot squad，并以 Requirement Quality Gate 作为第一个合作场景？</a:t>
            </a:r>
          </a:p>
        </p:txBody>
      </p:sp>
    </p:spTree>
    <p:extLst>
      <p:ext uri="{BB962C8B-B14F-4D97-AF65-F5344CB8AC3E}">
        <p14:creationId xmlns:p14="http://schemas.microsoft.com/office/powerpoint/2010/main" val="855112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2026-04-29T06:27:59.6940000Z</dcterms:created>
  <dcterms:modified xsi:type="dcterms:W3CDTF">2026-04-29T06:27:59.6940000Z</dcterms:modified>
</coreProperties>
</file>