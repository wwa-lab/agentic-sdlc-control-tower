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6b1b94328846e5" /><Relationship Type="http://schemas.openxmlformats.org/officeDocument/2006/relationships/extended-properties" Target="/docProps/app.xml" Id="R80495eab67d84a28" /><Relationship Type="http://schemas.openxmlformats.org/officeDocument/2006/relationships/officeDocument" Target="/ppt/presentation.xml" Id="Rcb1175e984ee4c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d7f244101d4830"/>
  </p:sldMasterIdLst>
  <p:notesMasterIdLst>
    <p:notesMasterId xmlns:r="http://schemas.openxmlformats.org/officeDocument/2006/relationships" r:id="R3cb73c73a2d54e3a"/>
  </p:notesMasterIdLst>
  <p:sldIdLst>
    <p:sldId xmlns:r="http://schemas.openxmlformats.org/officeDocument/2006/relationships" id="256" r:id="R24add527ffd14fde"/>
    <p:sldId xmlns:r="http://schemas.openxmlformats.org/officeDocument/2006/relationships" id="257" r:id="Rcbda4eef2c144348"/>
    <p:sldId xmlns:r="http://schemas.openxmlformats.org/officeDocument/2006/relationships" id="258" r:id="R75c5ed5b39f54e9e"/>
    <p:sldId xmlns:r="http://schemas.openxmlformats.org/officeDocument/2006/relationships" id="259" r:id="R391cbc6daec64608"/>
    <p:sldId xmlns:r="http://schemas.openxmlformats.org/officeDocument/2006/relationships" id="260" r:id="R5de2cb7425704623"/>
    <p:sldId xmlns:r="http://schemas.openxmlformats.org/officeDocument/2006/relationships" id="261" r:id="Re161938a8aa74c7c"/>
    <p:sldId xmlns:r="http://schemas.openxmlformats.org/officeDocument/2006/relationships" id="262" r:id="R58ca70e75d764f3f"/>
    <p:sldId xmlns:r="http://schemas.openxmlformats.org/officeDocument/2006/relationships" id="263" r:id="R3a0a8da31787416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7f244101d4830" /><Relationship Type="http://schemas.openxmlformats.org/officeDocument/2006/relationships/theme" Target="/ppt/theme/theme1.xml" Id="Rcc60dd704e6b44b5" /><Relationship Type="http://schemas.openxmlformats.org/officeDocument/2006/relationships/notesMaster" Target="/ppt/notesMasters/notesMaster1.xml" Id="R3cb73c73a2d54e3a" /><Relationship Type="http://schemas.openxmlformats.org/officeDocument/2006/relationships/presProps" Target="/ppt/presProps.xml" Id="Rf90b48927bf24b6b" /><Relationship Type="http://schemas.openxmlformats.org/officeDocument/2006/relationships/viewProps" Target="/ppt/viewProps.xml" Id="Rf43a7e6c64eb454a" /><Relationship Type="http://schemas.openxmlformats.org/officeDocument/2006/relationships/tableStyles" Target="/ppt/tableStyles.xml" Id="Re2bcd1aa45784240" /><Relationship Type="http://schemas.openxmlformats.org/officeDocument/2006/relationships/slide" Target="/ppt/slides/slide1.xml" Id="R24add527ffd14fde" /><Relationship Type="http://schemas.openxmlformats.org/officeDocument/2006/relationships/slide" Target="/ppt/slides/slide2.xml" Id="Rcbda4eef2c144348" /><Relationship Type="http://schemas.openxmlformats.org/officeDocument/2006/relationships/slide" Target="/ppt/slides/slide3.xml" Id="R75c5ed5b39f54e9e" /><Relationship Type="http://schemas.openxmlformats.org/officeDocument/2006/relationships/slide" Target="/ppt/slides/slide4.xml" Id="R391cbc6daec64608" /><Relationship Type="http://schemas.openxmlformats.org/officeDocument/2006/relationships/slide" Target="/ppt/slides/slide5.xml" Id="R5de2cb7425704623" /><Relationship Type="http://schemas.openxmlformats.org/officeDocument/2006/relationships/slide" Target="/ppt/slides/slide6.xml" Id="Re161938a8aa74c7c" /><Relationship Type="http://schemas.openxmlformats.org/officeDocument/2006/relationships/slide" Target="/ppt/slides/slide7.xml" Id="R58ca70e75d764f3f" /><Relationship Type="http://schemas.openxmlformats.org/officeDocument/2006/relationships/slide" Target="/ppt/slides/slide8.xml" Id="R3a0a8da3178741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fe492401c1841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be0f2c7cd7463a" /><Relationship Type="http://schemas.openxmlformats.org/officeDocument/2006/relationships/notesMaster" Target="/ppt/notesMasters/notesMaster1.xml" Id="R1e9337c765174a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daf73dccca494d" /><Relationship Type="http://schemas.openxmlformats.org/officeDocument/2006/relationships/notesMaster" Target="/ppt/notesMasters/notesMaster1.xml" Id="R4ab302fc50644a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269fdd49064f0b" /><Relationship Type="http://schemas.openxmlformats.org/officeDocument/2006/relationships/notesMaster" Target="/ppt/notesMasters/notesMaster1.xml" Id="Raaeac2fb36644e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25cb0cc99846a0" /><Relationship Type="http://schemas.openxmlformats.org/officeDocument/2006/relationships/notesMaster" Target="/ppt/notesMasters/notesMaster1.xml" Id="R3ee7fa6a668e4c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be0578f207467d" /><Relationship Type="http://schemas.openxmlformats.org/officeDocument/2006/relationships/notesMaster" Target="/ppt/notesMasters/notesMaster1.xml" Id="Rbd2321b1047044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065b036ec1485c" /><Relationship Type="http://schemas.openxmlformats.org/officeDocument/2006/relationships/notesMaster" Target="/ppt/notesMasters/notesMaster1.xml" Id="R57767138dcfc44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66049d73694184" /><Relationship Type="http://schemas.openxmlformats.org/officeDocument/2006/relationships/notesMaster" Target="/ppt/notesMasters/notesMaster1.xml" Id="R6078e58a726f4c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0ce2a5ba594aa1" /><Relationship Type="http://schemas.openxmlformats.org/officeDocument/2006/relationships/notesMaster" Target="/ppt/notesMasters/notesMaster1.xml" Id="Rad4b8cdd1e114e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907b9e36e4ca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ec83085b59d4373" /><Relationship Type="http://schemas.openxmlformats.org/officeDocument/2006/relationships/slideLayout" Target="/ppt/slideLayouts/slideLayout2.xml" Id="R63a44b55943a46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a44b55943a46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9cbf4daeb343f9" /><Relationship Type="http://schemas.openxmlformats.org/officeDocument/2006/relationships/notesSlide" Target="/ppt/notesSlides/notesSlide1.xml" Id="R446080165b5548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d5e71129e3467c" /><Relationship Type="http://schemas.openxmlformats.org/officeDocument/2006/relationships/notesSlide" Target="/ppt/notesSlides/notesSlide2.xml" Id="R0ac8add4ce3840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ddb64de8024227" /><Relationship Type="http://schemas.openxmlformats.org/officeDocument/2006/relationships/notesSlide" Target="/ppt/notesSlides/notesSlide3.xml" Id="Ra9cc5f3bb38942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f03aa9a90b4684" /><Relationship Type="http://schemas.openxmlformats.org/officeDocument/2006/relationships/notesSlide" Target="/ppt/notesSlides/notesSlide4.xml" Id="R588a2f2e424444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37918e294e44ce" /><Relationship Type="http://schemas.openxmlformats.org/officeDocument/2006/relationships/notesSlide" Target="/ppt/notesSlides/notesSlide5.xml" Id="R70155bca409b4b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b5606dffd6415e" /><Relationship Type="http://schemas.openxmlformats.org/officeDocument/2006/relationships/notesSlide" Target="/ppt/notesSlides/notesSlide6.xml" Id="Rf4638dfa4d0f40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ab3e768d904c60" /><Relationship Type="http://schemas.openxmlformats.org/officeDocument/2006/relationships/notesSlide" Target="/ppt/notesSlides/notesSlide7.xml" Id="R0cff832194ab45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c5d220b8144dd8" /><Relationship Type="http://schemas.openxmlformats.org/officeDocument/2006/relationships/notesSlide" Target="/ppt/notesSlides/notesSlide8.xml" Id="R7ff8a9d48dd74c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653A7A6-F793-42DB-8071-8F836AF0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F"/>
          </a:solidFill>
          <a:ln xmlns:a="http://schemas.openxmlformats.org/drawingml/2006/main" w="0">
            <a:solidFill>
              <a:srgbClr val="0E1A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47403-D823-44A7-963E-EBC1D4BD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925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7D8FF"/>
                </a:solidFill>
              </a:defRPr>
            </a:pPr>
            <a:r>
              <a:rPr sz="1575" b="1">
                <a:solidFill>
                  <a:srgbClr val="87D8FF"/>
                </a:solidFill>
              </a:rPr>
              <a:t>PARTNERSHIP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9EF1B-4BA3-4E75-9686-21848F74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925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Agentic SDLC Control Tower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85358-C340-4C9D-84C6-7DB27088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9258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C6D4E8"/>
                </a:solidFill>
              </a:defRPr>
            </a:pPr>
            <a:r>
              <a:rPr sz="1875">
                <a:solidFill>
                  <a:srgbClr val="C6D4E8"/>
                </a:solidFill>
              </a:rPr>
              <a:t>A flagship enterprise AI workflow where AI Platform can move from reusable capability to visible business impact.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CBA5F-4E4A-43A5-97D7-52DB9A1E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C7EA">
              <a:alpha val="13333"/>
            </a:srgbClr>
          </a:solidFill>
          <a:ln xmlns:a="http://schemas.openxmlformats.org/drawingml/2006/main" w="13335">
            <a:solidFill>
              <a:srgbClr val="47C7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4AA53-0B9C-4DD0-A17E-6623C7E8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504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F6FF"/>
                </a:solidFill>
              </a:defRPr>
            </a:pPr>
            <a:r>
              <a:rPr sz="1200" b="1">
                <a:solidFill>
                  <a:srgbClr val="EAF6FF"/>
                </a:solidFill>
              </a:rPr>
              <a:t>SDLC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EAEA3-EF4F-42BF-8B9B-5DB1FD1E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717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B77A">
              <a:alpha val="13333"/>
            </a:srgbClr>
          </a:solidFill>
          <a:ln xmlns:a="http://schemas.openxmlformats.org/drawingml/2006/main" w="13335">
            <a:solidFill>
              <a:srgbClr val="30B7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5FBA2-2034-4E54-BF84-6ACF42EF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479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F6FF"/>
                </a:solidFill>
              </a:defRPr>
            </a:pPr>
            <a:r>
              <a:rPr sz="1200" b="1">
                <a:solidFill>
                  <a:srgbClr val="EAF6FF"/>
                </a:solidFill>
              </a:rPr>
              <a:t>AI skills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EE7F7-F166-4960-9238-22D2EF54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1524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443">
              <a:alpha val="13333"/>
            </a:srgbClr>
          </a:solidFill>
          <a:ln xmlns:a="http://schemas.openxmlformats.org/drawingml/2006/main" w="13335">
            <a:solidFill>
              <a:srgbClr val="F6B4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06D7E-42C0-428A-9F3D-10AC4703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121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F6FF"/>
                </a:solidFill>
              </a:defRPr>
            </a:pPr>
            <a:r>
              <a:rPr sz="1200" b="1">
                <a:solidFill>
                  <a:srgbClr val="EAF6FF"/>
                </a:solidFill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0959F-F6E3-4D47-A033-95851BE3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2724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47C7EA"/>
                </a:solidFill>
              </a:defRPr>
            </a:pPr>
            <a:r>
              <a:rPr sz="5250" b="1">
                <a:solidFill>
                  <a:srgbClr val="47C7EA"/>
                </a:solidFill>
              </a:rPr>
              <a:t>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0A89A-88D2-4012-A4BF-8E1D7DD0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724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E5F5"/>
                </a:solidFill>
              </a:defRPr>
            </a:pPr>
            <a:r>
              <a:rPr sz="1500" b="1">
                <a:solidFill>
                  <a:srgbClr val="D9E5F5"/>
                </a:solidFill>
              </a:rPr>
              <a:t>domain workspaces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F3896-2EE4-44CE-82E4-A2BFAF1A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00400"/>
            <a:ext cx="2724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6B443"/>
                </a:solidFill>
              </a:defRPr>
            </a:pPr>
            <a:r>
              <a:rPr sz="5250" b="1">
                <a:solidFill>
                  <a:srgbClr val="F6B443"/>
                </a:solidFill>
              </a:rPr>
              <a:t>V1-V84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F0083-2308-4367-A52C-4F23536E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2724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E5F5"/>
                </a:solidFill>
              </a:defRPr>
            </a:pPr>
            <a:r>
              <a:rPr sz="1500" b="1">
                <a:solidFill>
                  <a:srgbClr val="D9E5F5"/>
                </a:solidFill>
              </a:rPr>
              <a:t>data backbone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70C43-EFB3-4826-BDB2-D2668D45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0400"/>
            <a:ext cx="2724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0B77A"/>
                </a:solidFill>
              </a:defRPr>
            </a:pPr>
            <a:r>
              <a:rPr sz="5250" b="1">
                <a:solidFill>
                  <a:srgbClr val="30B77A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CF787-43C5-4BC5-AB51-8A0FF442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86200"/>
            <a:ext cx="2724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E5F5"/>
                </a:solidFill>
              </a:defRPr>
            </a:pPr>
            <a:r>
              <a:rPr sz="1500" b="1">
                <a:solidFill>
                  <a:srgbClr val="D9E5F5"/>
                </a:solidFill>
              </a:rPr>
              <a:t>pilot wedge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71F24-3B63-4FB9-8BAF-B4C14FF9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5800"/>
            <a:ext cx="6858000" cy="85344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4243E"/>
          </a:solidFill>
          <a:ln xmlns:a="http://schemas.openxmlformats.org/drawingml/2006/main" w="13335">
            <a:solidFill>
              <a:srgbClr val="2E4A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8390C-E59C-47E1-84A9-A0B1FF73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58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558"/>
          </a:solidFill>
          <a:ln xmlns:a="http://schemas.openxmlformats.org/drawingml/2006/main" w="9525">
            <a:solidFill>
              <a:srgbClr val="345E9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5A317-5BE4-474A-8C38-4D55B13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D4D"/>
          </a:solidFill>
          <a:ln xmlns:a="http://schemas.openxmlformats.org/drawingml/2006/main" w="11430">
            <a:solidFill>
              <a:srgbClr val="47C7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49B48-722E-41C1-AA77-262E927F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829050"/>
            <a:ext cx="5753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Control Tower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21C79-1889-4E36-8280-2CF0A803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419600"/>
            <a:ext cx="575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FD0E6"/>
                </a:solidFill>
              </a:defRPr>
            </a:pPr>
            <a:r>
              <a:rPr sz="1800">
                <a:solidFill>
                  <a:srgbClr val="BFD0E6"/>
                </a:solidFill>
              </a:rPr>
              <a:t>real SDLC surfaces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276B2-79D8-4AAD-95D7-DF7AE62A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9149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A"/>
          </a:solidFill>
          <a:ln xmlns:a="http://schemas.openxmlformats.org/drawingml/2006/main" w="0">
            <a:solidFill>
              <a:srgbClr val="47C7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6B6E0E-0A31-4300-8B17-44839431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219700"/>
            <a:ext cx="5753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AI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7B1E5-E3D7-4690-8EDD-1466A717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810250"/>
            <a:ext cx="575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FD0E6"/>
                </a:solidFill>
              </a:defRPr>
            </a:pPr>
            <a:r>
              <a:rPr sz="1800">
                <a:solidFill>
                  <a:srgbClr val="BFD0E6"/>
                </a:solidFill>
              </a:rPr>
              <a:t>reusable enterprise AI 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EA988-A75D-4E5B-9078-0C1FA1BC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1070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EC0D8"/>
                </a:solidFill>
              </a:defRPr>
            </a:pPr>
            <a:r>
              <a:rPr sz="1650">
                <a:solidFill>
                  <a:srgbClr val="AEC0D8"/>
                </a:solidFill>
              </a:rPr>
              <a:t>Goal: make AI Platform the production-grade runtime behind agentic SDLC workflows.</a:t>
            </a:r>
          </a:p>
        </p:txBody>
      </p:sp>
    </p:spTree>
    <p:extLst>
      <p:ext uri="{BB962C8B-B14F-4D97-AF65-F5344CB8AC3E}">
        <p14:creationId xmlns:p14="http://schemas.microsoft.com/office/powerpoint/2010/main" val="12183838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ABD893E-F26B-4371-B4F5-F8460FAE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FC45D-C621-4AC0-AA00-649266F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478F6"/>
                </a:solidFill>
              </a:defRPr>
            </a:pPr>
            <a:r>
              <a:rPr sz="1575" b="1">
                <a:solidFill>
                  <a:srgbClr val="3478F6"/>
                </a:solidFill>
              </a:rPr>
              <a:t>THE HOOK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B9F77-F76D-48EE-87FF-8AF08BC8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32033"/>
                </a:solidFill>
              </a:defRPr>
            </a:pPr>
            <a:r>
              <a:rPr sz="4125" b="1">
                <a:solidFill>
                  <a:srgbClr val="132033"/>
                </a:solidFill>
              </a:rPr>
              <a:t>AI Platform needs workflows people can feel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44A9B-6766-4E4A-9997-29602E79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668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E82"/>
                </a:solidFill>
              </a:defRPr>
            </a:pPr>
            <a:r>
              <a:rPr sz="1875">
                <a:solidFill>
                  <a:srgbClr val="5E6E82"/>
                </a:solidFill>
              </a:rPr>
              <a:t>A platform becomes strategic when it powers real operating loops, not isolated demos or one-off chat experiences.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48AE4-3351-4FAE-B279-69E2864C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5397500" cy="51435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90B48-BC50-4F08-B158-80311212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E6399-69D9-4CE8-AF39-5F08A066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Visible business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58955-9BD5-4631-96E3-C9463252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4895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SDLC has real handoffs, documents, reviews, approvals, evidence, and delivery outcomes. It is ideal for demonstrating enterprise AI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CEEC6-2809-41B1-87A7-CC852A93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371725"/>
            <a:ext cx="5397500" cy="51435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CB391-A440-4352-B1A2-52671BCC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7A"/>
          </a:solidFill>
          <a:ln xmlns:a="http://schemas.openxmlformats.org/drawingml/2006/main" w="0">
            <a:solidFill>
              <a:srgbClr val="30B7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BE436-27B8-4880-8429-A76838B7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432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Reusable runtime patterns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9827B-FF1B-4ACD-8CBB-8BF34DF6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895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Skills, tool calls, evaluation, access control, audit, observability, and cost tracking can all be proven in one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E8543-1C53-42FF-B525-6A6D7DF3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371725"/>
            <a:ext cx="5397500" cy="51435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25A55-2B03-42D8-B207-C15DC56F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5908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3"/>
          </a:solidFill>
          <a:ln xmlns:a="http://schemas.openxmlformats.org/drawingml/2006/main" w="0">
            <a:solidFill>
              <a:srgbClr val="F6B4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480CB-5B1A-4CAD-9187-E62A6DA7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7432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Natural expansion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1DE9C-A6BA-4CE2-9FAD-A92AF411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124200"/>
            <a:ext cx="4895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Once the pattern works in Requirement Management, it can expand to Design, Testing, Deployment, and Reports.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F9FA3-0E13-4FD7-A102-35D05C5E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915275"/>
            <a:ext cx="16687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AD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AB392-FEA6-4DBD-82AF-1D827D5A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15300"/>
            <a:ext cx="16154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A8C"/>
                </a:solidFill>
              </a:defRPr>
            </a:pPr>
            <a:r>
              <a:rPr sz="1950" b="1">
                <a:solidFill>
                  <a:srgbClr val="174A8C"/>
                </a:solidFill>
              </a:rPr>
              <a:t>This gives AI Platform a flagship product story: enterprise AI embedded into the software delivery operating model.</a:t>
            </a:r>
          </a:p>
        </p:txBody>
      </p:sp>
    </p:spTree>
    <p:extLst>
      <p:ext uri="{BB962C8B-B14F-4D97-AF65-F5344CB8AC3E}">
        <p14:creationId xmlns:p14="http://schemas.microsoft.com/office/powerpoint/2010/main" val="8270999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51B43D7-8554-4052-9571-63CDD3F9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EA7BE-2510-485C-8CEF-C4F57B46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478F6"/>
                </a:solidFill>
              </a:defRPr>
            </a:pPr>
            <a:r>
              <a:rPr sz="1575" b="1">
                <a:solidFill>
                  <a:srgbClr val="3478F6"/>
                </a:solidFill>
              </a:rPr>
              <a:t>WHAT EXISTS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0B667-DF88-459E-ACA8-9A80FDC5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32033"/>
                </a:solidFill>
              </a:defRPr>
            </a:pPr>
            <a:r>
              <a:rPr sz="4125" b="1">
                <a:solidFill>
                  <a:srgbClr val="132033"/>
                </a:solidFill>
              </a:rPr>
              <a:t>We already have a credible SDLC product shell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002DB-2506-4B41-A11C-8D085DD3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6687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E82"/>
                </a:solidFill>
              </a:defRPr>
            </a:pPr>
            <a:r>
              <a:rPr sz="1875">
                <a:solidFill>
                  <a:srgbClr val="5E6E82"/>
                </a:solidFill>
              </a:rPr>
              <a:t>The Control Tower is not a blank concept. It has a working front end, Spring Boot APIs, seeded local data, SDD docs, and a Requirement Management pilot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FCCBD-901B-4520-A9B2-6A798A0D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638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478F6"/>
                </a:solidFill>
              </a:defRPr>
            </a:pPr>
            <a:r>
              <a:rPr sz="5250" b="1">
                <a:solidFill>
                  <a:srgbClr val="3478F6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763B1-849F-4026-818B-38AC6DC8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638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E6E82"/>
                </a:solidFill>
              </a:defRPr>
            </a:pPr>
            <a:r>
              <a:rPr sz="1500" b="1">
                <a:solidFill>
                  <a:srgbClr val="5E6E82"/>
                </a:solidFill>
              </a:rPr>
              <a:t>implemented SDLC slices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AC462-2893-41AD-80AC-D0A08696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638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6B443"/>
                </a:solidFill>
              </a:defRPr>
            </a:pPr>
            <a:r>
              <a:rPr sz="5250" b="1">
                <a:solidFill>
                  <a:srgbClr val="F6B443"/>
                </a:solidFill>
              </a:rPr>
              <a:t>V1-V84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80F8E-FC89-4A52-824F-B7547303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638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E6E82"/>
                </a:solidFill>
              </a:defRPr>
            </a:pPr>
            <a:r>
              <a:rPr sz="1500" b="1">
                <a:solidFill>
                  <a:srgbClr val="5E6E82"/>
                </a:solidFill>
              </a:rPr>
              <a:t>Flyway migrations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311F0-C70B-4DA8-A497-80443C54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638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0B77A"/>
                </a:solidFill>
              </a:defRPr>
            </a:pPr>
            <a:r>
              <a:rPr sz="5250" b="1">
                <a:solidFill>
                  <a:srgbClr val="30B77A"/>
                </a:solidFill>
              </a:rPr>
              <a:t>SDD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852B0-84FA-4D48-BA09-DD3DF5DF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10350"/>
            <a:ext cx="638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E6E82"/>
                </a:solidFill>
              </a:defRPr>
            </a:pPr>
            <a:r>
              <a:rPr sz="1500" b="1">
                <a:solidFill>
                  <a:srgbClr val="5E6E82"/>
                </a:solidFill>
              </a:rPr>
              <a:t>documents before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52C72-20E7-4EDA-9044-4172052C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891" y="2552700"/>
            <a:ext cx="4876705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A754F-64FA-4CB1-BE3F-C7983EBD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622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88333-A93D-4FE2-A564-2412132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Requirement workbench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42E71-B6EA-45E6-B1FF-A34732E2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438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Intake, normalization, source sync, SDD document index, review readiness, and quality gates.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B0B49-9CD3-4719-BF43-6F55FA65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95" y="2552700"/>
            <a:ext cx="4876705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C598D-0E83-4376-A3AB-8EA4CB18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7622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7A"/>
          </a:solidFill>
          <a:ln xmlns:a="http://schemas.openxmlformats.org/drawingml/2006/main" w="0">
            <a:solidFill>
              <a:srgbClr val="30B7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FB410-9274-4D8F-AD58-E6C15CEF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9337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Backend foundation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35E75-6AF6-45B0-98E7-7B8F58C0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295650"/>
            <a:ext cx="438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Spring Boot APIs, JPA persistence, local stubs, and provider switch points for real integrations.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BF5B3-6EDE-4E7C-9A20-CC1F7EF5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891" y="5334000"/>
            <a:ext cx="4876705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DD77B-77BB-4516-A306-FA0F5E97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435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3"/>
          </a:solidFill>
          <a:ln xmlns:a="http://schemas.openxmlformats.org/drawingml/2006/main" w="0">
            <a:solidFill>
              <a:srgbClr val="F6B4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15BA9-0973-4768-B829-348F071C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7150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Profile-driven flows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CDF52-E56B-4552-B898-EFF62891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076950"/>
            <a:ext cx="4381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Standard SDD and IBM i-style profiles can carry different document chains and skill policies.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80315-2379-4C12-A3C3-2144CB45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95" y="5334000"/>
            <a:ext cx="4876705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30103B-7B90-49D0-A27C-093B9D6A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435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B5B"/>
          </a:solidFill>
          <a:ln xmlns:a="http://schemas.openxmlformats.org/drawingml/2006/main" w="0">
            <a:solidFill>
              <a:srgbClr val="E65B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40AE1-B2A8-419A-976B-B80ECCFF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7150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Traceable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99EBB-3593-47C9-BDC3-9408DBF2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076950"/>
            <a:ext cx="4381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Commit/blob versioning, review freshness, gate results, and artifact links create an audit-ready path.</a:t>
            </a:r>
          </a:p>
        </p:txBody>
      </p:sp>
    </p:spTree>
    <p:extLst>
      <p:ext uri="{BB962C8B-B14F-4D97-AF65-F5344CB8AC3E}">
        <p14:creationId xmlns:p14="http://schemas.microsoft.com/office/powerpoint/2010/main" val="13273227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26972E8-7257-4492-B6C1-8D56BED3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BA506-C6B0-4DDD-8ABB-F99DF901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478F6"/>
                </a:solidFill>
              </a:defRPr>
            </a:pPr>
            <a:r>
              <a:rPr sz="1575" b="1">
                <a:solidFill>
                  <a:srgbClr val="3478F6"/>
                </a:solidFill>
              </a:rPr>
              <a:t>THE FIRST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43C20-5B76-4CBC-B5F9-FD4CD106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32033"/>
                </a:solidFill>
              </a:defRPr>
            </a:pPr>
            <a:r>
              <a:rPr sz="4125" b="1">
                <a:solidFill>
                  <a:srgbClr val="132033"/>
                </a:solidFill>
              </a:rPr>
              <a:t>Requirement Management is the right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8C368-44C3-41F8-B347-A0EA16AE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668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E82"/>
                </a:solidFill>
              </a:defRPr>
            </a:pPr>
            <a:r>
              <a:rPr sz="1875">
                <a:solidFill>
                  <a:srgbClr val="5E6E82"/>
                </a:solidFill>
              </a:rPr>
              <a:t>It has messy inputs, clear document outputs, human approval, measurable quality, and traceability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ABCD3-E690-4337-A16A-6B1F5A9F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78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4B5E3-C27E-4974-A259-92642056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033"/>
                </a:solidFill>
              </a:defRPr>
            </a:pPr>
            <a:r>
              <a:rPr sz="1350" b="1">
                <a:solidFill>
                  <a:srgbClr val="132033"/>
                </a:solidFill>
              </a:rPr>
              <a:t>Raw input / Jira CR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1D02B-9E24-4860-97B9-7F27471A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76550"/>
            <a:ext cx="41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E6E82"/>
                </a:solidFill>
              </a:defRPr>
            </a:pPr>
            <a:r>
              <a:rPr sz="2550" b="1">
                <a:solidFill>
                  <a:srgbClr val="5E6E8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1BEC6-E9F9-44CA-B51B-E8068B67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0B7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77F00-E09E-4B43-B87F-A511D12B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033"/>
                </a:solidFill>
              </a:defRPr>
            </a:pPr>
            <a:r>
              <a:rPr sz="1350" b="1">
                <a:solidFill>
                  <a:srgbClr val="132033"/>
                </a:solidFill>
              </a:rPr>
              <a:t>Normalizer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4C351-E29B-46D1-94F6-39A92F0F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76550"/>
            <a:ext cx="41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E6E82"/>
                </a:solidFill>
              </a:defRPr>
            </a:pPr>
            <a:r>
              <a:rPr sz="2550" b="1">
                <a:solidFill>
                  <a:srgbClr val="5E6E8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BEFE3-960B-4D38-B960-67CBADEA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6B4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53088-1CD4-46FB-9BC0-A5729896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033"/>
                </a:solidFill>
              </a:defRPr>
            </a:pPr>
            <a:r>
              <a:rPr sz="1350" b="1">
                <a:solidFill>
                  <a:srgbClr val="132033"/>
                </a:solidFill>
              </a:rPr>
              <a:t>SDD docs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37796-9504-4EA4-8A8B-960D4A87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76550"/>
            <a:ext cx="41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E6E82"/>
                </a:solidFill>
              </a:defRPr>
            </a:pPr>
            <a:r>
              <a:rPr sz="2550" b="1">
                <a:solidFill>
                  <a:srgbClr val="5E6E82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78708-C2F6-49C6-9FDC-6D0394E7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65B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66199-A945-42CA-AF84-373734B9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033"/>
                </a:solidFill>
              </a:defRPr>
            </a:pPr>
            <a:r>
              <a:rPr sz="1350" b="1">
                <a:solidFill>
                  <a:srgbClr val="132033"/>
                </a:solidFill>
              </a:rPr>
              <a:t>Quality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1CA3B-4E97-4151-A2DF-73F2AA16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76550"/>
            <a:ext cx="41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E6E82"/>
                </a:solidFill>
              </a:defRPr>
            </a:pPr>
            <a:r>
              <a:rPr sz="2550" b="1">
                <a:solidFill>
                  <a:srgbClr val="5E6E8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42A52-B42B-479A-A488-84BAFB2E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26098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78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B2D97-E31A-4EB4-8F07-835AF088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7241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033"/>
                </a:solidFill>
              </a:defRPr>
            </a:pPr>
            <a:r>
              <a:rPr sz="1350" b="1">
                <a:solidFill>
                  <a:srgbClr val="132033"/>
                </a:solidFill>
              </a:rPr>
              <a:t>Review /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8F157-8047-444A-BBBD-AE6141A9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53975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EDDED-ACF8-437B-B7E1-79E0E155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D96AF-D7A5-49DC-9CB8-647C5F12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Intake is real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4B311-ACA4-4917-8C61-5AEC1304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4895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Jira, Confluence, uploads, pasted notes, and emails produce incomplete or inconsistent requirements.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53052-57CB-4BD5-9D8D-6219A02D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124325"/>
            <a:ext cx="53975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682EB-555B-4CC0-B7F9-122D1539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7A"/>
          </a:solidFill>
          <a:ln xmlns:a="http://schemas.openxmlformats.org/drawingml/2006/main" w="0">
            <a:solidFill>
              <a:srgbClr val="30B7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359C4-1D73-4186-ABBC-55C16FA8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958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Quality can be measured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1A820-7205-4AE0-9544-F416C41A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76800"/>
            <a:ext cx="4895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A gate can score completeness, traceability, testability, implementation readiness, and risk controls.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6F9EE-235F-4E26-84E2-F6D51E51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4124325"/>
            <a:ext cx="53975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4E8938-DAA1-4DDE-8EA4-C687ADDD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3434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B5B"/>
          </a:solidFill>
          <a:ln xmlns:a="http://schemas.openxmlformats.org/drawingml/2006/main" w="0">
            <a:solidFill>
              <a:srgbClr val="E65B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DB64F-1994-4FB4-B5B3-3B40ABE4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4958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Approval has teeth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D7CA4D-B207-488C-8F1C-CD54FACE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876800"/>
            <a:ext cx="4895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Scores below threshold or stale evidence block approval, making AI output operationally accountable.</a:t>
            </a:r>
          </a:p>
        </p:txBody>
      </p:sp>
    </p:spTree>
    <p:extLst>
      <p:ext uri="{BB962C8B-B14F-4D97-AF65-F5344CB8AC3E}">
        <p14:creationId xmlns:p14="http://schemas.microsoft.com/office/powerpoint/2010/main" val="5166721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EDC6136-C461-479E-A4BE-3D2661B8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F"/>
          </a:solidFill>
          <a:ln xmlns:a="http://schemas.openxmlformats.org/drawingml/2006/main" w="0">
            <a:solidFill>
              <a:srgbClr val="0E1A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7AC90-DDEA-4A51-BBE8-43AAECC3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7D8FF"/>
                </a:solidFill>
              </a:defRPr>
            </a:pPr>
            <a:r>
              <a:rPr sz="1575" b="1">
                <a:solidFill>
                  <a:srgbClr val="87D8FF"/>
                </a:solidFill>
              </a:rPr>
              <a:t>WHY AI PLATFORM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5409F-459F-42B3-ABF3-041C61B8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The platform turns a workflow into a reusable enterprise AI pattern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CEB32-53BE-41A6-85B9-842C51D9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668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C6D4E8"/>
                </a:solidFill>
              </a:defRPr>
            </a:pPr>
            <a:r>
              <a:rPr sz="1875">
                <a:solidFill>
                  <a:srgbClr val="C6D4E8"/>
                </a:solidFill>
              </a:rPr>
              <a:t>Control Tower can provide the product surface. AI Platform can make the agentic layer safe, reusable, observable, and scalable.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F9594-9004-4974-906C-5DA824F2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54102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11430">
            <a:solidFill>
              <a:srgbClr val="3149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2B7EA-0920-497E-B502-E16DC1DA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A"/>
          </a:solidFill>
          <a:ln xmlns:a="http://schemas.openxmlformats.org/drawingml/2006/main" w="0">
            <a:solidFill>
              <a:srgbClr val="47C7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06A46-615F-48B2-B6E3-ECFDF246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Model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97F09-9A4E-4B1B-9D81-8AAFC585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491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D5E7"/>
                </a:solidFill>
              </a:defRPr>
            </a:pPr>
            <a:r>
              <a:rPr sz="1500">
                <a:solidFill>
                  <a:srgbClr val="C9D5E7"/>
                </a:solidFill>
              </a:rPr>
              <a:t>Choose the right model per task, with latency, quality, and cost controls.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731E7-9948-480E-AD1D-C88137D5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33625"/>
            <a:ext cx="54102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11430">
            <a:solidFill>
              <a:srgbClr val="3149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81659-1612-4F6C-BD4F-EB9F10F8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27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7A"/>
          </a:solidFill>
          <a:ln xmlns:a="http://schemas.openxmlformats.org/drawingml/2006/main" w="0">
            <a:solidFill>
              <a:srgbClr val="30B7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04D31-355F-4BF0-A42C-64F6ED70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0510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Skill registry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881BC-DFC9-4AE5-ACEE-F597AF75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491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D5E7"/>
                </a:solidFill>
              </a:defRPr>
            </a:pPr>
            <a:r>
              <a:rPr sz="1500">
                <a:solidFill>
                  <a:srgbClr val="C9D5E7"/>
                </a:solidFill>
              </a:rPr>
              <a:t>Versioned prompts, tools, rubrics, ownership, and lifecycle management.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438E-11FD-4BDA-A164-C7211FD7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333625"/>
            <a:ext cx="54102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11430">
            <a:solidFill>
              <a:srgbClr val="3149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D73B5-9384-4708-9871-CF9ECA85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5527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3"/>
          </a:solidFill>
          <a:ln xmlns:a="http://schemas.openxmlformats.org/drawingml/2006/main" w="0">
            <a:solidFill>
              <a:srgbClr val="F6B4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66058-B0E0-47DE-93BF-861ABCB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70510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Tool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3257D-F0AE-4BCC-A399-A210EF57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086100"/>
            <a:ext cx="491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D5E7"/>
                </a:solidFill>
              </a:defRPr>
            </a:pPr>
            <a:r>
              <a:rPr sz="1500">
                <a:solidFill>
                  <a:srgbClr val="C9D5E7"/>
                </a:solidFill>
              </a:rPr>
              <a:t>Safe connector access to Jira, Confluence, GitHub, KB, and internal systems.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75200-95B9-490A-86B7-E4506FF2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00675"/>
            <a:ext cx="54102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11430">
            <a:solidFill>
              <a:srgbClr val="3149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B98E3-7CB2-4295-95E3-54F57743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A"/>
          </a:solidFill>
          <a:ln xmlns:a="http://schemas.openxmlformats.org/drawingml/2006/main" w="0">
            <a:solidFill>
              <a:srgbClr val="47C7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A6312-FF75-4404-A3F2-63BA651D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721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3E549-8017-4887-8D32-131336D2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53150"/>
            <a:ext cx="491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D5E7"/>
                </a:solidFill>
              </a:defRPr>
            </a:pPr>
            <a:r>
              <a:rPr sz="1500">
                <a:solidFill>
                  <a:srgbClr val="C9D5E7"/>
                </a:solidFill>
              </a:rPr>
              <a:t>Document scoring, regression tests, golden cases, and human review loops.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D67C2-6510-4127-B405-FD62FC57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00675"/>
            <a:ext cx="54102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11430">
            <a:solidFill>
              <a:srgbClr val="3149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6ED48-235B-4B83-99DA-41B22634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6197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7A"/>
          </a:solidFill>
          <a:ln xmlns:a="http://schemas.openxmlformats.org/drawingml/2006/main" w="0">
            <a:solidFill>
              <a:srgbClr val="30B7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DAD34-BC5A-4AF0-B29E-64BAB70E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721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95A10-8143-49BD-AE85-732109E1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153150"/>
            <a:ext cx="491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D5E7"/>
                </a:solidFill>
              </a:defRPr>
            </a:pPr>
            <a:r>
              <a:rPr sz="1500">
                <a:solidFill>
                  <a:srgbClr val="C9D5E7"/>
                </a:solidFill>
              </a:rPr>
              <a:t>Run history, traces, cost, errors, success rates, and explainability signals.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8538F-90D0-4CE5-9B2C-042FA9D7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400675"/>
            <a:ext cx="54102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11430">
            <a:solidFill>
              <a:srgbClr val="3149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184BB-348C-41BA-9BFA-4CA8DF87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6197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3"/>
          </a:solidFill>
          <a:ln xmlns:a="http://schemas.openxmlformats.org/drawingml/2006/main" w="0">
            <a:solidFill>
              <a:srgbClr val="F6B4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E5971-0216-4640-A9E7-343CDB74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7721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2EAE2-B0A4-4187-BC3A-6AF60A38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153150"/>
            <a:ext cx="491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D5E7"/>
                </a:solidFill>
              </a:defRPr>
            </a:pPr>
            <a:r>
              <a:rPr sz="1500">
                <a:solidFill>
                  <a:srgbClr val="C9D5E7"/>
                </a:solidFill>
              </a:rPr>
              <a:t>RBAC, audit, policy enforcement, data boundaries, and approval guardrails.</a:t>
            </a:r>
          </a:p>
        </p:txBody>
      </p:sp>
    </p:spTree>
    <p:extLst>
      <p:ext uri="{BB962C8B-B14F-4D97-AF65-F5344CB8AC3E}">
        <p14:creationId xmlns:p14="http://schemas.microsoft.com/office/powerpoint/2010/main" val="5687285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FBF8959-0CAB-4F7F-9CF5-0D6BCF9A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B1D4E-00E0-4A3C-AB20-5E085D05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478F6"/>
                </a:solidFill>
              </a:defRPr>
            </a:pPr>
            <a:r>
              <a:rPr sz="1575" b="1">
                <a:solidFill>
                  <a:srgbClr val="3478F6"/>
                </a:solidFill>
              </a:rPr>
              <a:t>THE JOINT PRODUCT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04932-4609-4CF3-A405-583F3F5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32033"/>
                </a:solidFill>
              </a:defRPr>
            </a:pPr>
            <a:r>
              <a:rPr sz="4125" b="1">
                <a:solidFill>
                  <a:srgbClr val="132033"/>
                </a:solidFill>
              </a:rPr>
              <a:t>From application feature to AI delivery operating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0C7BF-550D-48BF-96AD-A6D904B3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668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E82"/>
                </a:solidFill>
              </a:defRPr>
            </a:pPr>
            <a:r>
              <a:rPr sz="1875">
                <a:solidFill>
                  <a:srgbClr val="5E6E82"/>
                </a:solidFill>
              </a:rPr>
              <a:t>Together we can define a repeatable pattern that every SDLC domain can reuse.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10864-2774-466D-8A6E-60DAE156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5115560" cy="5905500"/>
          </a:xfrm>
          <a:prstGeom xmlns:a="http://schemas.openxmlformats.org/drawingml/2006/main" prst="roundRect">
            <a:avLst>
              <a:gd name="adj" fmla="val 1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478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81A52-C96B-4F36-9627-AA3E4D1F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552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033"/>
                </a:solidFill>
              </a:defRPr>
            </a:pPr>
            <a:r>
              <a:rPr sz="2400" b="1">
                <a:solidFill>
                  <a:srgbClr val="132033"/>
                </a:solidFill>
              </a:rPr>
              <a:t>Control Tower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D180E-D6E6-479D-B831-1706F280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D04E9-4B4E-4DEE-8A7B-29AB547F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45529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E6E82"/>
                </a:solidFill>
              </a:defRPr>
            </a:pPr>
            <a:r>
              <a:rPr sz="1800">
                <a:solidFill>
                  <a:srgbClr val="5E6E82"/>
                </a:solidFill>
              </a:rPr>
              <a:t>User workbench</a:t>
            </a:r>
          </a:p>
          <a:p xmlns:a="http://schemas.openxmlformats.org/drawingml/2006/main">
            <a:pPr>
              <a:defRPr sz="1800">
                <a:solidFill>
                  <a:srgbClr val="5E6E82"/>
                </a:solidFill>
              </a:defRPr>
            </a:pPr>
            <a:r>
              <a:rPr sz="1800">
                <a:solidFill>
                  <a:srgbClr val="5E6E82"/>
                </a:solidFill>
              </a:rPr>
              <a:t>SDLC domain model</a:t>
            </a:r>
          </a:p>
          <a:p xmlns:a="http://schemas.openxmlformats.org/drawingml/2006/main">
            <a:pPr>
              <a:defRPr sz="1800">
                <a:solidFill>
                  <a:srgbClr val="5E6E82"/>
                </a:solidFill>
              </a:defRPr>
            </a:pPr>
            <a:r>
              <a:rPr sz="1800">
                <a:solidFill>
                  <a:srgbClr val="5E6E82"/>
                </a:solidFill>
              </a:rPr>
              <a:t>Document chain</a:t>
            </a:r>
          </a:p>
          <a:p xmlns:a="http://schemas.openxmlformats.org/drawingml/2006/main">
            <a:pPr>
              <a:defRPr sz="1800">
                <a:solidFill>
                  <a:srgbClr val="5E6E82"/>
                </a:solidFill>
              </a:defRPr>
            </a:pPr>
            <a:r>
              <a:rPr sz="1800">
                <a:solidFill>
                  <a:srgbClr val="5E6E82"/>
                </a:solidFill>
              </a:rPr>
              <a:t>Review workflow</a:t>
            </a:r>
          </a:p>
          <a:p xmlns:a="http://schemas.openxmlformats.org/drawingml/2006/main">
            <a:pPr>
              <a:defRPr sz="1800">
                <a:solidFill>
                  <a:srgbClr val="5E6E82"/>
                </a:solidFill>
              </a:defRPr>
            </a:pPr>
            <a:r>
              <a:rPr sz="1800">
                <a:solidFill>
                  <a:srgbClr val="5E6E82"/>
                </a:solidFill>
              </a:rPr>
              <a:t>Traceability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2900D-5511-4B61-B785-C9D337F9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458D4-E29F-40B3-9A1F-2A42A76D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37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939E2-A3DF-46FF-83E5-13516396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11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B77A"/>
          </a:solidFill>
          <a:ln xmlns:a="http://schemas.openxmlformats.org/drawingml/2006/main" w="0">
            <a:solidFill>
              <a:srgbClr val="30B7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51920-C9AF-4D11-BC1A-C76C1805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0075"/>
            <a:ext cx="5905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1430">
            <a:solidFill>
              <a:srgbClr val="A5C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2C8F3-CF1C-48DD-AC6D-681DB42B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4A8C"/>
                </a:solidFill>
              </a:defRPr>
            </a:pPr>
            <a:r>
              <a:rPr sz="2325" b="1">
                <a:solidFill>
                  <a:srgbClr val="174A8C"/>
                </a:solidFill>
              </a:rPr>
              <a:t>Agentic SDLC Runtime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F1360-28C7-40AB-85BE-A66E26B6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0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B77A"/>
          </a:solidFill>
          <a:ln xmlns:a="http://schemas.openxmlformats.org/drawingml/2006/main" w="0">
            <a:solidFill>
              <a:srgbClr val="30B7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5B8D5-A1A8-4BE9-B9F6-0C0D95B5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343650"/>
            <a:ext cx="537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7A"/>
          </a:solidFill>
          <a:ln xmlns:a="http://schemas.openxmlformats.org/drawingml/2006/main" w="0">
            <a:solidFill>
              <a:srgbClr val="30B7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EDCF3-C5DD-4EAD-8C1A-B4218DDA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30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3"/>
          </a:solidFill>
          <a:ln xmlns:a="http://schemas.openxmlformats.org/drawingml/2006/main" w="0">
            <a:solidFill>
              <a:srgbClr val="F6B4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95678-E0DF-4AB4-894D-E69C8A98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340" y="2314575"/>
            <a:ext cx="5115560" cy="5905500"/>
          </a:xfrm>
          <a:prstGeom xmlns:a="http://schemas.openxmlformats.org/drawingml/2006/main" prst="roundRect">
            <a:avLst>
              <a:gd name="adj" fmla="val 1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0B7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8161F-A0F9-4F21-ACD5-685F8FB2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590800"/>
            <a:ext cx="4552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033"/>
                </a:solidFill>
              </a:defRPr>
            </a:pPr>
            <a:r>
              <a:rPr sz="2400" b="1">
                <a:solidFill>
                  <a:srgbClr val="132033"/>
                </a:solidFill>
              </a:rPr>
              <a:t>AI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54D0B-8166-4F1B-881B-4398D1F8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0670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7A"/>
          </a:solidFill>
          <a:ln xmlns:a="http://schemas.openxmlformats.org/drawingml/2006/main" w="0">
            <a:solidFill>
              <a:srgbClr val="30B7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17AC9-145D-4526-95B8-4CD6652D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276600"/>
            <a:ext cx="45529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E6E82"/>
                </a:solidFill>
              </a:defRPr>
            </a:pPr>
            <a:r>
              <a:rPr sz="1800">
                <a:solidFill>
                  <a:srgbClr val="5E6E82"/>
                </a:solidFill>
              </a:rPr>
              <a:t>Model gateway</a:t>
            </a:r>
          </a:p>
          <a:p xmlns:a="http://schemas.openxmlformats.org/drawingml/2006/main">
            <a:pPr>
              <a:defRPr sz="1800">
                <a:solidFill>
                  <a:srgbClr val="5E6E82"/>
                </a:solidFill>
              </a:defRPr>
            </a:pPr>
            <a:r>
              <a:rPr sz="1800">
                <a:solidFill>
                  <a:srgbClr val="5E6E82"/>
                </a:solidFill>
              </a:rPr>
              <a:t>Skill registry</a:t>
            </a:r>
          </a:p>
          <a:p xmlns:a="http://schemas.openxmlformats.org/drawingml/2006/main">
            <a:pPr>
              <a:defRPr sz="1800">
                <a:solidFill>
                  <a:srgbClr val="5E6E82"/>
                </a:solidFill>
              </a:defRPr>
            </a:pPr>
            <a:r>
              <a:rPr sz="1800">
                <a:solidFill>
                  <a:srgbClr val="5E6E82"/>
                </a:solidFill>
              </a:rPr>
              <a:t>Tool runtime</a:t>
            </a:r>
          </a:p>
          <a:p xmlns:a="http://schemas.openxmlformats.org/drawingml/2006/main">
            <a:pPr>
              <a:defRPr sz="1800">
                <a:solidFill>
                  <a:srgbClr val="5E6E82"/>
                </a:solidFill>
              </a:defRPr>
            </a:pPr>
            <a:r>
              <a:rPr sz="1800">
                <a:solidFill>
                  <a:srgbClr val="5E6E82"/>
                </a:solidFill>
              </a:rPr>
              <a:t>Evaluation harness</a:t>
            </a:r>
          </a:p>
          <a:p xmlns:a="http://schemas.openxmlformats.org/drawingml/2006/main">
            <a:pPr>
              <a:defRPr sz="1800">
                <a:solidFill>
                  <a:srgbClr val="5E6E82"/>
                </a:solidFill>
              </a:defRPr>
            </a:pPr>
            <a:r>
              <a:rPr sz="1800">
                <a:solidFill>
                  <a:srgbClr val="5E6E82"/>
                </a:solidFill>
              </a:rPr>
              <a:t>Governance plane</a:t>
            </a:r>
          </a:p>
        </p:txBody>
      </p:sp>
    </p:spTree>
    <p:extLst>
      <p:ext uri="{BB962C8B-B14F-4D97-AF65-F5344CB8AC3E}">
        <p14:creationId xmlns:p14="http://schemas.microsoft.com/office/powerpoint/2010/main" val="5105841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78AB00F-88F6-46B5-BFB1-3985D7D8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A7173-7AC4-4C86-BBBF-5C9DE8C3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478F6"/>
                </a:solidFill>
              </a:defRPr>
            </a:pPr>
            <a:r>
              <a:rPr sz="1575" b="1">
                <a:solidFill>
                  <a:srgbClr val="3478F6"/>
                </a:solidFill>
              </a:rPr>
              <a:t>WHAT AI PLATFORM 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37D53-CF81-4FC8-8655-B87AB71E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32033"/>
                </a:solidFill>
              </a:defRPr>
            </a:pPr>
            <a:r>
              <a:rPr sz="4125" b="1">
                <a:solidFill>
                  <a:srgbClr val="132033"/>
                </a:solidFill>
              </a:rPr>
              <a:t>A high-leverage proving 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78E31-8B4B-4970-B175-39629848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668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E82"/>
                </a:solidFill>
              </a:defRPr>
            </a:pPr>
            <a:r>
              <a:rPr sz="1875">
                <a:solidFill>
                  <a:srgbClr val="5E6E82"/>
                </a:solidFill>
              </a:rPr>
              <a:t>This is a chance to turn platform capabilities into a visible enterprise use case with real users and reusable patterns.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3D40B-2816-4A9E-AC50-F6EC9036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8220075" cy="2733675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78373-EFA2-439E-98BE-69337146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5497E-4101-4333-980B-FF4C4D6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Flagship adoption 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0BC49-0CEB-4F7E-B0C0-13C5DFA3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7734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A concrete narrative: AI Platform powers a business-critical SDLC workflow, not a generic chatbot.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0B351-E3E7-48E9-94D7-CBABFE2F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14575"/>
            <a:ext cx="8220075" cy="2733675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89834-46CE-4302-B0F7-43934C7A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7A"/>
          </a:solidFill>
          <a:ln xmlns:a="http://schemas.openxmlformats.org/drawingml/2006/main" w="0">
            <a:solidFill>
              <a:srgbClr val="30B7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4549B-1E93-42DC-8582-578975D3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Reusable capability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57CA7-9F98-4B80-9876-90D467B4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7734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The pilot will stress-test model routing, skill lifecycle, tool access, evaluation, and governance.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A8D73-1DCA-4EAA-B0B9-39A620AE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8220075" cy="2733675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321F4-FA1C-404B-BDA5-A26CA4FF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3"/>
          </a:solidFill>
          <a:ln xmlns:a="http://schemas.openxmlformats.org/drawingml/2006/main" w="0">
            <a:solidFill>
              <a:srgbClr val="F6B4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35EFF-4CBE-43AF-A7F2-0F78EAA4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Enterprise evidence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5DA2E-715C-44F9-85A7-18587041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38850"/>
            <a:ext cx="7734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Every AI action can bind to source, document, commit, blob, score, review, and audit trail.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05BCC-8BC9-461C-B7AB-B43F57D6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295900"/>
            <a:ext cx="8220075" cy="2733675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C5886-AD2D-44A1-8E9C-738D1FF0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054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B5B"/>
          </a:solidFill>
          <a:ln xmlns:a="http://schemas.openxmlformats.org/drawingml/2006/main" w="0">
            <a:solidFill>
              <a:srgbClr val="E65B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3C20C-4BFA-432D-A5CF-864A6704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7690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33"/>
                </a:solidFill>
              </a:defRPr>
            </a:pPr>
            <a:r>
              <a:rPr sz="2025" b="1">
                <a:solidFill>
                  <a:srgbClr val="132033"/>
                </a:solidFill>
              </a:rPr>
              <a:t>Expansion runway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08B0C-AEFA-4DF8-8B22-D412E9C1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38850"/>
            <a:ext cx="7734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E82"/>
                </a:solidFill>
              </a:defRPr>
            </a:pPr>
            <a:r>
              <a:rPr sz="1500">
                <a:solidFill>
                  <a:srgbClr val="5E6E82"/>
                </a:solidFill>
              </a:rPr>
              <a:t>The same runtime pattern can extend into design review, test generation, release notes, incident triage,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14103597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BE868AF-38FF-4259-9BC3-D6F24DD7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F"/>
          </a:solidFill>
          <a:ln xmlns:a="http://schemas.openxmlformats.org/drawingml/2006/main" w="0">
            <a:solidFill>
              <a:srgbClr val="0E1A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3CB92-5D7A-424C-A16F-9EF4FC8E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7D8FF"/>
                </a:solidFill>
              </a:defRPr>
            </a:pPr>
            <a:r>
              <a:rPr sz="1575" b="1">
                <a:solidFill>
                  <a:srgbClr val="87D8FF"/>
                </a:solidFill>
              </a:rPr>
              <a:t>A SIMPLE WAY TO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E7DB8-1A77-4B9A-A12C-3DDFBF65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Run a 90-day joint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F4977-CDD3-4D92-902E-E3895AFB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668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C6D4E8"/>
                </a:solidFill>
              </a:defRPr>
            </a:pPr>
            <a:r>
              <a:rPr sz="1875">
                <a:solidFill>
                  <a:srgbClr val="C6D4E8"/>
                </a:solidFill>
              </a:rPr>
              <a:t>Start with Requirement Quality Gate. Keep scope narrow, make the platform dependencies explicit, and show a working enterprise AI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26E97-B13E-46E7-ACB3-ECD6D805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54102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11430">
            <a:solidFill>
              <a:srgbClr val="3149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98CF1-8C48-41CE-B443-4BBFA407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A"/>
          </a:solidFill>
          <a:ln xmlns:a="http://schemas.openxmlformats.org/drawingml/2006/main" w="0">
            <a:solidFill>
              <a:srgbClr val="47C7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2675F-102E-4F3F-B4CC-61BE2664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0-30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36E3A-63C7-4DEA-8ABB-FDED7EFF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491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D5E7"/>
                </a:solidFill>
              </a:defRPr>
            </a:pPr>
            <a:r>
              <a:rPr sz="1500">
                <a:solidFill>
                  <a:srgbClr val="C9D5E7"/>
                </a:solidFill>
              </a:rPr>
              <a:t>Align pilot team, target profile, source systems, quality rubric, skill contract, and run evidence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4E869-D6B8-4078-BBD6-D25D55E8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19325"/>
            <a:ext cx="54102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11430">
            <a:solidFill>
              <a:srgbClr val="3149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9B6ED-F680-4B85-B57F-5CC057E5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384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7A"/>
          </a:solidFill>
          <a:ln xmlns:a="http://schemas.openxmlformats.org/drawingml/2006/main" w="0">
            <a:solidFill>
              <a:srgbClr val="30B7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CEF6B-EEF8-4EE6-BABA-FED2A79C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31-60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591A0-29E8-455E-B6EF-1114FCD8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491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D5E7"/>
                </a:solidFill>
              </a:defRPr>
            </a:pPr>
            <a:r>
              <a:rPr sz="1500">
                <a:solidFill>
                  <a:srgbClr val="C9D5E7"/>
                </a:solidFill>
              </a:rPr>
              <a:t>Integrate model/tool runtime, run history, evaluation logs, authorization, and score writeback.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1C4D9-3977-46B2-9ABC-662598A9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219325"/>
            <a:ext cx="54102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11430">
            <a:solidFill>
              <a:srgbClr val="3149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3F458-B462-40BB-9508-C614F284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4384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3"/>
          </a:solidFill>
          <a:ln xmlns:a="http://schemas.openxmlformats.org/drawingml/2006/main" w="0">
            <a:solidFill>
              <a:srgbClr val="F6B4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65528-734A-4174-9A92-345641C5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59080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61-90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42319-CB77-4011-8C71-16170ABE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971800"/>
            <a:ext cx="491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D5E7"/>
                </a:solidFill>
              </a:defRPr>
            </a:pPr>
            <a:r>
              <a:rPr sz="1500">
                <a:solidFill>
                  <a:srgbClr val="C9D5E7"/>
                </a:solidFill>
              </a:rPr>
              <a:t>Run one or two project pilots; validate approval gating, stale detection, score explanation, and operating metrics.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07EEE-2C7E-4877-A8DE-255E0BAB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15075"/>
            <a:ext cx="82010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11430">
            <a:solidFill>
              <a:srgbClr val="3149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D01A7-9B1E-460B-B62C-C50E3A7C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5722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What we need from AI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9DD39-65C9-4144-9F95-9B42ABB6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991350"/>
            <a:ext cx="7639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9D5E7"/>
                </a:solidFill>
              </a:defRPr>
            </a:pPr>
            <a:r>
              <a:rPr sz="1725">
                <a:solidFill>
                  <a:srgbClr val="C9D5E7"/>
                </a:solidFill>
              </a:rPr>
              <a:t>A named partner, runtime input, skill governance input, and agreement to shape the pilot as a reusable platform pattern.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8F9A3-6431-46DA-BB46-48D0FC28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315075"/>
            <a:ext cx="82010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1430">
            <a:solidFill>
              <a:srgbClr val="8FC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D5DD1-1E6F-4FB0-B00C-F239C4E5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5722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A8C"/>
                </a:solidFill>
              </a:defRPr>
            </a:pPr>
            <a:r>
              <a:rPr sz="2100" b="1">
                <a:solidFill>
                  <a:srgbClr val="174A8C"/>
                </a:solidFill>
              </a:rPr>
              <a:t>The conversation we want to open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27DF6-FAE0-48C7-BCF5-B6A3C3A0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991350"/>
            <a:ext cx="7639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A8C"/>
                </a:solidFill>
              </a:defRPr>
            </a:pPr>
            <a:r>
              <a:rPr sz="2025" b="1">
                <a:solidFill>
                  <a:srgbClr val="174A8C"/>
                </a:solidFill>
              </a:rPr>
              <a:t>Can we make this the first joint showcase for AI Platform-powered agentic SDLC?</a:t>
            </a:r>
          </a:p>
        </p:txBody>
      </p:sp>
    </p:spTree>
    <p:extLst>
      <p:ext uri="{BB962C8B-B14F-4D97-AF65-F5344CB8AC3E}">
        <p14:creationId xmlns:p14="http://schemas.microsoft.com/office/powerpoint/2010/main" val="1362495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2026-04-29T07:34:03.5400000Z</dcterms:created>
  <dcterms:modified xsi:type="dcterms:W3CDTF">2026-04-29T07:34:03.5400000Z</dcterms:modified>
</coreProperties>
</file>